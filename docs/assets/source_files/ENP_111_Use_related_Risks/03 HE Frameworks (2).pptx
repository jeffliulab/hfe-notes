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9" r:id="rId2"/>
    <p:sldId id="270" r:id="rId3"/>
    <p:sldId id="271" r:id="rId4"/>
    <p:sldId id="274" r:id="rId5"/>
    <p:sldId id="292" r:id="rId6"/>
    <p:sldId id="293" r:id="rId7"/>
    <p:sldId id="272" r:id="rId8"/>
    <p:sldId id="291" r:id="rId9"/>
    <p:sldId id="294" r:id="rId10"/>
    <p:sldId id="278" r:id="rId11"/>
    <p:sldId id="295" r:id="rId12"/>
    <p:sldId id="276" r:id="rId13"/>
    <p:sldId id="296" r:id="rId14"/>
    <p:sldId id="279" r:id="rId15"/>
    <p:sldId id="282" r:id="rId16"/>
    <p:sldId id="280" r:id="rId17"/>
    <p:sldId id="284" r:id="rId18"/>
    <p:sldId id="283" r:id="rId19"/>
    <p:sldId id="285" r:id="rId20"/>
  </p:sldIdLst>
  <p:sldSz cx="9144000" cy="6858000" type="screen4x3"/>
  <p:notesSz cx="6858000" cy="9144000"/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>
      <a:defRPr>
        <a:latin typeface="Arial"/>
        <a:ea typeface="Arial"/>
        <a:cs typeface="Arial"/>
        <a:sym typeface="Arial"/>
      </a:defRPr>
    </a:lvl6pPr>
    <a:lvl7pPr>
      <a:defRPr>
        <a:latin typeface="Arial"/>
        <a:ea typeface="Arial"/>
        <a:cs typeface="Arial"/>
        <a:sym typeface="Arial"/>
      </a:defRPr>
    </a:lvl7pPr>
    <a:lvl8pPr>
      <a:defRPr>
        <a:latin typeface="Arial"/>
        <a:ea typeface="Arial"/>
        <a:cs typeface="Arial"/>
        <a:sym typeface="Arial"/>
      </a:defRPr>
    </a:lvl8pPr>
    <a:lvl9pPr>
      <a:defRPr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36" userDrawn="1">
          <p15:clr>
            <a:srgbClr val="A4A3A4"/>
          </p15:clr>
        </p15:guide>
        <p15:guide id="3" orient="horz" pos="41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EF"/>
    <a:srgbClr val="0081D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792F8-F0D8-DB4D-B3A5-FA2748CB17FF}" v="2" dt="2023-11-10T14:34:50.32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4DFE3"/>
          </a:solidFill>
        </a:fill>
      </a:tcStyle>
    </a:wholeTbl>
    <a:band2H>
      <a:tcTxStyle/>
      <a:tcStyle>
        <a:tcBdr/>
        <a:fill>
          <a:solidFill>
            <a:srgbClr val="EAF0F2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6DFCA"/>
          </a:solidFill>
        </a:fill>
      </a:tcStyle>
    </a:wholeTbl>
    <a:band2H>
      <a:tcTxStyle/>
      <a:tcStyle>
        <a:tcBdr/>
        <a:fill>
          <a:solidFill>
            <a:srgbClr val="F3EF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EA0B0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EA0B0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" autoAdjust="0"/>
    <p:restoredTop sz="90476" autoAdjust="0"/>
  </p:normalViewPr>
  <p:slideViewPr>
    <p:cSldViewPr showGuides="1">
      <p:cViewPr varScale="1">
        <p:scale>
          <a:sx n="115" d="100"/>
          <a:sy n="115" d="100"/>
        </p:scale>
        <p:origin x="2560" y="200"/>
      </p:cViewPr>
      <p:guideLst>
        <p:guide orient="horz" pos="768"/>
        <p:guide pos="336"/>
        <p:guide orient="horz" pos="4176"/>
      </p:guideLst>
    </p:cSldViewPr>
  </p:slideViewPr>
  <p:outlineViewPr>
    <p:cViewPr>
      <p:scale>
        <a:sx n="33" d="100"/>
        <a:sy n="33" d="100"/>
      </p:scale>
      <p:origin x="0" y="-236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Durrani" userId="45205e84-0712-4dc9-bb96-ac9d5a682d17" providerId="ADAL" clId="{494792F8-F0D8-DB4D-B3A5-FA2748CB17FF}"/>
    <pc:docChg chg="custSel delSld modSld">
      <pc:chgData name="Sami Durrani" userId="45205e84-0712-4dc9-bb96-ac9d5a682d17" providerId="ADAL" clId="{494792F8-F0D8-DB4D-B3A5-FA2748CB17FF}" dt="2023-11-10T14:45:32.910" v="792" actId="20577"/>
      <pc:docMkLst>
        <pc:docMk/>
      </pc:docMkLst>
      <pc:sldChg chg="addSp delSp modSp del mod">
        <pc:chgData name="Sami Durrani" userId="45205e84-0712-4dc9-bb96-ac9d5a682d17" providerId="ADAL" clId="{494792F8-F0D8-DB4D-B3A5-FA2748CB17FF}" dt="2023-11-10T14:34:55.598" v="4" actId="2696"/>
        <pc:sldMkLst>
          <pc:docMk/>
          <pc:sldMk cId="0" sldId="256"/>
        </pc:sldMkLst>
        <pc:picChg chg="add mod">
          <ac:chgData name="Sami Durrani" userId="45205e84-0712-4dc9-bb96-ac9d5a682d17" providerId="ADAL" clId="{494792F8-F0D8-DB4D-B3A5-FA2748CB17FF}" dt="2023-11-10T14:34:08.862" v="1"/>
          <ac:picMkLst>
            <pc:docMk/>
            <pc:sldMk cId="0" sldId="256"/>
            <ac:picMk id="2" creationId="{D0651709-40DC-B9D0-CCAA-4559D1B92685}"/>
          </ac:picMkLst>
        </pc:picChg>
        <pc:picChg chg="del">
          <ac:chgData name="Sami Durrani" userId="45205e84-0712-4dc9-bb96-ac9d5a682d17" providerId="ADAL" clId="{494792F8-F0D8-DB4D-B3A5-FA2748CB17FF}" dt="2023-11-10T14:33:59.191" v="0" actId="478"/>
          <ac:picMkLst>
            <pc:docMk/>
            <pc:sldMk cId="0" sldId="256"/>
            <ac:picMk id="65" creationId="{00000000-0000-0000-0000-000000000000}"/>
          </ac:picMkLst>
        </pc:picChg>
      </pc:sldChg>
      <pc:sldChg chg="modSp mod modNotesTx">
        <pc:chgData name="Sami Durrani" userId="45205e84-0712-4dc9-bb96-ac9d5a682d17" providerId="ADAL" clId="{494792F8-F0D8-DB4D-B3A5-FA2748CB17FF}" dt="2023-11-10T14:43:34.149" v="523"/>
        <pc:sldMkLst>
          <pc:docMk/>
          <pc:sldMk cId="3587270724" sldId="269"/>
        </pc:sldMkLst>
        <pc:picChg chg="mod modCrop">
          <ac:chgData name="Sami Durrani" userId="45205e84-0712-4dc9-bb96-ac9d5a682d17" providerId="ADAL" clId="{494792F8-F0D8-DB4D-B3A5-FA2748CB17FF}" dt="2023-11-10T14:36:54.029" v="10" actId="732"/>
          <ac:picMkLst>
            <pc:docMk/>
            <pc:sldMk cId="3587270724" sldId="269"/>
            <ac:picMk id="7" creationId="{AB9DF3EC-059D-BDE5-B88A-922A38191C6B}"/>
          </ac:picMkLst>
        </pc:picChg>
      </pc:sldChg>
      <pc:sldChg chg="modNotesTx">
        <pc:chgData name="Sami Durrani" userId="45205e84-0712-4dc9-bb96-ac9d5a682d17" providerId="ADAL" clId="{494792F8-F0D8-DB4D-B3A5-FA2748CB17FF}" dt="2023-11-10T14:39:57.122" v="207" actId="20577"/>
        <pc:sldMkLst>
          <pc:docMk/>
          <pc:sldMk cId="1429668835" sldId="270"/>
        </pc:sldMkLst>
      </pc:sldChg>
      <pc:sldChg chg="modSp mod">
        <pc:chgData name="Sami Durrani" userId="45205e84-0712-4dc9-bb96-ac9d5a682d17" providerId="ADAL" clId="{494792F8-F0D8-DB4D-B3A5-FA2748CB17FF}" dt="2023-11-10T14:36:06.009" v="9" actId="313"/>
        <pc:sldMkLst>
          <pc:docMk/>
          <pc:sldMk cId="1910962070" sldId="272"/>
        </pc:sldMkLst>
        <pc:spChg chg="mod">
          <ac:chgData name="Sami Durrani" userId="45205e84-0712-4dc9-bb96-ac9d5a682d17" providerId="ADAL" clId="{494792F8-F0D8-DB4D-B3A5-FA2748CB17FF}" dt="2023-11-10T14:36:06.009" v="9" actId="313"/>
          <ac:spMkLst>
            <pc:docMk/>
            <pc:sldMk cId="1910962070" sldId="272"/>
            <ac:spMk id="3" creationId="{00000000-0000-0000-0000-000000000000}"/>
          </ac:spMkLst>
        </pc:spChg>
      </pc:sldChg>
      <pc:sldChg chg="modNotesTx">
        <pc:chgData name="Sami Durrani" userId="45205e84-0712-4dc9-bb96-ac9d5a682d17" providerId="ADAL" clId="{494792F8-F0D8-DB4D-B3A5-FA2748CB17FF}" dt="2023-11-10T14:42:48.650" v="521" actId="20577"/>
        <pc:sldMkLst>
          <pc:docMk/>
          <pc:sldMk cId="3373021946" sldId="273"/>
        </pc:sldMkLst>
      </pc:sldChg>
      <pc:sldChg chg="addSp delSp modSp mod chgLayout modNotesTx">
        <pc:chgData name="Sami Durrani" userId="45205e84-0712-4dc9-bb96-ac9d5a682d17" providerId="ADAL" clId="{494792F8-F0D8-DB4D-B3A5-FA2748CB17FF}" dt="2023-11-10T14:40:37.479" v="212" actId="20577"/>
        <pc:sldMkLst>
          <pc:docMk/>
          <pc:sldMk cId="3631004461" sldId="274"/>
        </pc:sldMkLst>
        <pc:spChg chg="mod ord">
          <ac:chgData name="Sami Durrani" userId="45205e84-0712-4dc9-bb96-ac9d5a682d17" providerId="ADAL" clId="{494792F8-F0D8-DB4D-B3A5-FA2748CB17FF}" dt="2023-11-10T14:40:34.897" v="211" actId="20577"/>
          <ac:spMkLst>
            <pc:docMk/>
            <pc:sldMk cId="3631004461" sldId="274"/>
            <ac:spMk id="2" creationId="{00000000-0000-0000-0000-000000000000}"/>
          </ac:spMkLst>
        </pc:spChg>
        <pc:spChg chg="add del mod">
          <ac:chgData name="Sami Durrani" userId="45205e84-0712-4dc9-bb96-ac9d5a682d17" providerId="ADAL" clId="{494792F8-F0D8-DB4D-B3A5-FA2748CB17FF}" dt="2023-11-10T14:40:30.085" v="209" actId="6264"/>
          <ac:spMkLst>
            <pc:docMk/>
            <pc:sldMk cId="3631004461" sldId="274"/>
            <ac:spMk id="3" creationId="{3ED1BEEE-76A3-D63E-B880-0A8ADD0A9436}"/>
          </ac:spMkLst>
        </pc:spChg>
        <pc:spChg chg="add del mod">
          <ac:chgData name="Sami Durrani" userId="45205e84-0712-4dc9-bb96-ac9d5a682d17" providerId="ADAL" clId="{494792F8-F0D8-DB4D-B3A5-FA2748CB17FF}" dt="2023-11-10T14:40:30.085" v="209" actId="6264"/>
          <ac:spMkLst>
            <pc:docMk/>
            <pc:sldMk cId="3631004461" sldId="274"/>
            <ac:spMk id="4" creationId="{28B927DA-006A-DEF8-B33F-04FF2DF908C0}"/>
          </ac:spMkLst>
        </pc:spChg>
        <pc:spChg chg="mod ord">
          <ac:chgData name="Sami Durrani" userId="45205e84-0712-4dc9-bb96-ac9d5a682d17" providerId="ADAL" clId="{494792F8-F0D8-DB4D-B3A5-FA2748CB17FF}" dt="2023-11-10T14:40:37.479" v="212" actId="20577"/>
          <ac:spMkLst>
            <pc:docMk/>
            <pc:sldMk cId="3631004461" sldId="274"/>
            <ac:spMk id="12" creationId="{0F1AAD92-49E9-5153-9E4F-75EF06F7A789}"/>
          </ac:spMkLst>
        </pc:spChg>
      </pc:sldChg>
      <pc:sldChg chg="modNotesTx">
        <pc:chgData name="Sami Durrani" userId="45205e84-0712-4dc9-bb96-ac9d5a682d17" providerId="ADAL" clId="{494792F8-F0D8-DB4D-B3A5-FA2748CB17FF}" dt="2023-11-10T14:44:28.873" v="596" actId="20577"/>
        <pc:sldMkLst>
          <pc:docMk/>
          <pc:sldMk cId="4081949141" sldId="275"/>
        </pc:sldMkLst>
      </pc:sldChg>
      <pc:sldChg chg="addSp delSp modSp mod chgLayout">
        <pc:chgData name="Sami Durrani" userId="45205e84-0712-4dc9-bb96-ac9d5a682d17" providerId="ADAL" clId="{494792F8-F0D8-DB4D-B3A5-FA2748CB17FF}" dt="2023-11-10T14:38:01.084" v="14" actId="20577"/>
        <pc:sldMkLst>
          <pc:docMk/>
          <pc:sldMk cId="500880123" sldId="276"/>
        </pc:sldMkLst>
        <pc:spChg chg="mod ord">
          <ac:chgData name="Sami Durrani" userId="45205e84-0712-4dc9-bb96-ac9d5a682d17" providerId="ADAL" clId="{494792F8-F0D8-DB4D-B3A5-FA2748CB17FF}" dt="2023-11-10T14:37:49.288" v="13" actId="6264"/>
          <ac:spMkLst>
            <pc:docMk/>
            <pc:sldMk cId="500880123" sldId="276"/>
            <ac:spMk id="2" creationId="{00000000-0000-0000-0000-000000000000}"/>
          </ac:spMkLst>
        </pc:spChg>
        <pc:spChg chg="mod ord">
          <ac:chgData name="Sami Durrani" userId="45205e84-0712-4dc9-bb96-ac9d5a682d17" providerId="ADAL" clId="{494792F8-F0D8-DB4D-B3A5-FA2748CB17FF}" dt="2023-11-10T14:38:01.084" v="14" actId="20577"/>
          <ac:spMkLst>
            <pc:docMk/>
            <pc:sldMk cId="500880123" sldId="276"/>
            <ac:spMk id="3" creationId="{00000000-0000-0000-0000-000000000000}"/>
          </ac:spMkLst>
        </pc:spChg>
        <pc:spChg chg="add del mod">
          <ac:chgData name="Sami Durrani" userId="45205e84-0712-4dc9-bb96-ac9d5a682d17" providerId="ADAL" clId="{494792F8-F0D8-DB4D-B3A5-FA2748CB17FF}" dt="2023-11-10T14:37:49.288" v="13" actId="6264"/>
          <ac:spMkLst>
            <pc:docMk/>
            <pc:sldMk cId="500880123" sldId="276"/>
            <ac:spMk id="4" creationId="{F5777D67-18A9-DB55-2D8E-6C20ACCE1BC4}"/>
          </ac:spMkLst>
        </pc:spChg>
        <pc:spChg chg="add del mod">
          <ac:chgData name="Sami Durrani" userId="45205e84-0712-4dc9-bb96-ac9d5a682d17" providerId="ADAL" clId="{494792F8-F0D8-DB4D-B3A5-FA2748CB17FF}" dt="2023-11-10T14:37:49.288" v="13" actId="6264"/>
          <ac:spMkLst>
            <pc:docMk/>
            <pc:sldMk cId="500880123" sldId="276"/>
            <ac:spMk id="5" creationId="{9DEB0B4F-2EA9-0725-B903-31BAAB9B148F}"/>
          </ac:spMkLst>
        </pc:spChg>
      </pc:sldChg>
      <pc:sldChg chg="addSp delSp modSp mod chgLayout modNotesTx">
        <pc:chgData name="Sami Durrani" userId="45205e84-0712-4dc9-bb96-ac9d5a682d17" providerId="ADAL" clId="{494792F8-F0D8-DB4D-B3A5-FA2748CB17FF}" dt="2023-11-10T14:41:44.216" v="410" actId="20577"/>
        <pc:sldMkLst>
          <pc:docMk/>
          <pc:sldMk cId="3375094875" sldId="277"/>
        </pc:sldMkLst>
        <pc:spChg chg="mod ord">
          <ac:chgData name="Sami Durrani" userId="45205e84-0712-4dc9-bb96-ac9d5a682d17" providerId="ADAL" clId="{494792F8-F0D8-DB4D-B3A5-FA2748CB17FF}" dt="2023-11-10T14:40:43.183" v="213" actId="6264"/>
          <ac:spMkLst>
            <pc:docMk/>
            <pc:sldMk cId="3375094875" sldId="277"/>
            <ac:spMk id="2" creationId="{00000000-0000-0000-0000-000000000000}"/>
          </ac:spMkLst>
        </pc:spChg>
        <pc:spChg chg="add del mod">
          <ac:chgData name="Sami Durrani" userId="45205e84-0712-4dc9-bb96-ac9d5a682d17" providerId="ADAL" clId="{494792F8-F0D8-DB4D-B3A5-FA2748CB17FF}" dt="2023-11-10T14:40:43.183" v="213" actId="6264"/>
          <ac:spMkLst>
            <pc:docMk/>
            <pc:sldMk cId="3375094875" sldId="277"/>
            <ac:spMk id="3" creationId="{5D579E7A-CCCB-9098-AE37-787005355D3B}"/>
          </ac:spMkLst>
        </pc:spChg>
        <pc:spChg chg="add mod ord">
          <ac:chgData name="Sami Durrani" userId="45205e84-0712-4dc9-bb96-ac9d5a682d17" providerId="ADAL" clId="{494792F8-F0D8-DB4D-B3A5-FA2748CB17FF}" dt="2023-11-10T14:40:43.183" v="213" actId="6264"/>
          <ac:spMkLst>
            <pc:docMk/>
            <pc:sldMk cId="3375094875" sldId="277"/>
            <ac:spMk id="4" creationId="{588C08B6-026F-68EA-2751-40AC8CFB2CD4}"/>
          </ac:spMkLst>
        </pc:spChg>
      </pc:sldChg>
      <pc:sldChg chg="modNotesTx">
        <pc:chgData name="Sami Durrani" userId="45205e84-0712-4dc9-bb96-ac9d5a682d17" providerId="ADAL" clId="{494792F8-F0D8-DB4D-B3A5-FA2748CB17FF}" dt="2023-11-10T14:45:32.910" v="792" actId="20577"/>
        <pc:sldMkLst>
          <pc:docMk/>
          <pc:sldMk cId="818839925" sldId="279"/>
        </pc:sldMkLst>
      </pc:sldChg>
      <pc:sldChg chg="addSp delSp modSp mod chgLayout">
        <pc:chgData name="Sami Durrani" userId="45205e84-0712-4dc9-bb96-ac9d5a682d17" providerId="ADAL" clId="{494792F8-F0D8-DB4D-B3A5-FA2748CB17FF}" dt="2023-11-10T14:38:21.078" v="16" actId="27636"/>
        <pc:sldMkLst>
          <pc:docMk/>
          <pc:sldMk cId="2154085568" sldId="284"/>
        </pc:sldMkLst>
        <pc:spChg chg="mod ord">
          <ac:chgData name="Sami Durrani" userId="45205e84-0712-4dc9-bb96-ac9d5a682d17" providerId="ADAL" clId="{494792F8-F0D8-DB4D-B3A5-FA2748CB17FF}" dt="2023-11-10T14:38:21.078" v="16" actId="27636"/>
          <ac:spMkLst>
            <pc:docMk/>
            <pc:sldMk cId="2154085568" sldId="284"/>
            <ac:spMk id="2" creationId="{00000000-0000-0000-0000-000000000000}"/>
          </ac:spMkLst>
        </pc:spChg>
        <pc:spChg chg="mod ord">
          <ac:chgData name="Sami Durrani" userId="45205e84-0712-4dc9-bb96-ac9d5a682d17" providerId="ADAL" clId="{494792F8-F0D8-DB4D-B3A5-FA2748CB17FF}" dt="2023-11-10T14:38:21.065" v="15" actId="6264"/>
          <ac:spMkLst>
            <pc:docMk/>
            <pc:sldMk cId="2154085568" sldId="284"/>
            <ac:spMk id="3" creationId="{174ECBC8-9701-557E-2DE3-FB79CA9A5C0B}"/>
          </ac:spMkLst>
        </pc:spChg>
        <pc:spChg chg="add del mod">
          <ac:chgData name="Sami Durrani" userId="45205e84-0712-4dc9-bb96-ac9d5a682d17" providerId="ADAL" clId="{494792F8-F0D8-DB4D-B3A5-FA2748CB17FF}" dt="2023-11-10T14:38:21.065" v="15" actId="6264"/>
          <ac:spMkLst>
            <pc:docMk/>
            <pc:sldMk cId="2154085568" sldId="284"/>
            <ac:spMk id="4" creationId="{EC038AD9-1213-CDC8-8BFF-128539F323A1}"/>
          </ac:spMkLst>
        </pc:spChg>
        <pc:spChg chg="add del mod">
          <ac:chgData name="Sami Durrani" userId="45205e84-0712-4dc9-bb96-ac9d5a682d17" providerId="ADAL" clId="{494792F8-F0D8-DB4D-B3A5-FA2748CB17FF}" dt="2023-11-10T14:38:21.065" v="15" actId="6264"/>
          <ac:spMkLst>
            <pc:docMk/>
            <pc:sldMk cId="2154085568" sldId="284"/>
            <ac:spMk id="5" creationId="{18C96C2E-4F49-FD29-49D6-F45DFBCB8894}"/>
          </ac:spMkLst>
        </pc:spChg>
      </pc:sldChg>
      <pc:sldChg chg="addSp delSp modSp mod chgLayout">
        <pc:chgData name="Sami Durrani" userId="45205e84-0712-4dc9-bb96-ac9d5a682d17" providerId="ADAL" clId="{494792F8-F0D8-DB4D-B3A5-FA2748CB17FF}" dt="2023-11-10T14:38:41.787" v="20" actId="255"/>
        <pc:sldMkLst>
          <pc:docMk/>
          <pc:sldMk cId="2008823104" sldId="285"/>
        </pc:sldMkLst>
        <pc:spChg chg="mod ord">
          <ac:chgData name="Sami Durrani" userId="45205e84-0712-4dc9-bb96-ac9d5a682d17" providerId="ADAL" clId="{494792F8-F0D8-DB4D-B3A5-FA2748CB17FF}" dt="2023-11-10T14:38:31.586" v="18" actId="27636"/>
          <ac:spMkLst>
            <pc:docMk/>
            <pc:sldMk cId="2008823104" sldId="285"/>
            <ac:spMk id="2" creationId="{00000000-0000-0000-0000-000000000000}"/>
          </ac:spMkLst>
        </pc:spChg>
        <pc:spChg chg="mod ord">
          <ac:chgData name="Sami Durrani" userId="45205e84-0712-4dc9-bb96-ac9d5a682d17" providerId="ADAL" clId="{494792F8-F0D8-DB4D-B3A5-FA2748CB17FF}" dt="2023-11-10T14:38:41.787" v="20" actId="255"/>
          <ac:spMkLst>
            <pc:docMk/>
            <pc:sldMk cId="2008823104" sldId="285"/>
            <ac:spMk id="3" creationId="{174ECBC8-9701-557E-2DE3-FB79CA9A5C0B}"/>
          </ac:spMkLst>
        </pc:spChg>
        <pc:spChg chg="add del mod">
          <ac:chgData name="Sami Durrani" userId="45205e84-0712-4dc9-bb96-ac9d5a682d17" providerId="ADAL" clId="{494792F8-F0D8-DB4D-B3A5-FA2748CB17FF}" dt="2023-11-10T14:38:31.571" v="17" actId="6264"/>
          <ac:spMkLst>
            <pc:docMk/>
            <pc:sldMk cId="2008823104" sldId="285"/>
            <ac:spMk id="4" creationId="{E1525224-FFCA-2E14-558D-C36A62185E94}"/>
          </ac:spMkLst>
        </pc:spChg>
        <pc:spChg chg="add del mod">
          <ac:chgData name="Sami Durrani" userId="45205e84-0712-4dc9-bb96-ac9d5a682d17" providerId="ADAL" clId="{494792F8-F0D8-DB4D-B3A5-FA2748CB17FF}" dt="2023-11-10T14:38:31.571" v="17" actId="6264"/>
          <ac:spMkLst>
            <pc:docMk/>
            <pc:sldMk cId="2008823104" sldId="285"/>
            <ac:spMk id="5" creationId="{B7E7D627-D862-3B15-C8A1-A5F020F13581}"/>
          </ac:spMkLst>
        </pc:spChg>
      </pc:sldChg>
      <pc:sldChg chg="modSp mod modNotesTx">
        <pc:chgData name="Sami Durrani" userId="45205e84-0712-4dc9-bb96-ac9d5a682d17" providerId="ADAL" clId="{494792F8-F0D8-DB4D-B3A5-FA2748CB17FF}" dt="2023-11-10T14:43:15.910" v="522"/>
        <pc:sldMkLst>
          <pc:docMk/>
          <pc:sldMk cId="3602021930" sldId="288"/>
        </pc:sldMkLst>
        <pc:picChg chg="mod">
          <ac:chgData name="Sami Durrani" userId="45205e84-0712-4dc9-bb96-ac9d5a682d17" providerId="ADAL" clId="{494792F8-F0D8-DB4D-B3A5-FA2748CB17FF}" dt="2023-11-10T14:37:30.873" v="12" actId="14100"/>
          <ac:picMkLst>
            <pc:docMk/>
            <pc:sldMk cId="3602021930" sldId="288"/>
            <ac:picMk id="7" creationId="{35D3C4AE-AF02-35A3-CC91-4F49C5567FB2}"/>
          </ac:picMkLst>
        </pc:picChg>
      </pc:sldChg>
      <pc:sldChg chg="addSp delSp modSp mod">
        <pc:chgData name="Sami Durrani" userId="45205e84-0712-4dc9-bb96-ac9d5a682d17" providerId="ADAL" clId="{494792F8-F0D8-DB4D-B3A5-FA2748CB17FF}" dt="2023-11-10T14:35:15.656" v="8" actId="20577"/>
        <pc:sldMkLst>
          <pc:docMk/>
          <pc:sldMk cId="1960779210" sldId="289"/>
        </pc:sldMkLst>
        <pc:spChg chg="mod">
          <ac:chgData name="Sami Durrani" userId="45205e84-0712-4dc9-bb96-ac9d5a682d17" providerId="ADAL" clId="{494792F8-F0D8-DB4D-B3A5-FA2748CB17FF}" dt="2023-11-10T14:35:05.970" v="6" actId="20577"/>
          <ac:spMkLst>
            <pc:docMk/>
            <pc:sldMk cId="1960779210" sldId="289"/>
            <ac:spMk id="4" creationId="{FD5F1C20-1729-502B-6468-FFD00C5A83A8}"/>
          </ac:spMkLst>
        </pc:spChg>
        <pc:spChg chg="mod">
          <ac:chgData name="Sami Durrani" userId="45205e84-0712-4dc9-bb96-ac9d5a682d17" providerId="ADAL" clId="{494792F8-F0D8-DB4D-B3A5-FA2748CB17FF}" dt="2023-11-10T14:35:15.656" v="8" actId="20577"/>
          <ac:spMkLst>
            <pc:docMk/>
            <pc:sldMk cId="1960779210" sldId="289"/>
            <ac:spMk id="64" creationId="{00000000-0000-0000-0000-000000000000}"/>
          </ac:spMkLst>
        </pc:spChg>
        <pc:picChg chg="add mod">
          <ac:chgData name="Sami Durrani" userId="45205e84-0712-4dc9-bb96-ac9d5a682d17" providerId="ADAL" clId="{494792F8-F0D8-DB4D-B3A5-FA2748CB17FF}" dt="2023-11-10T14:34:50.328" v="3"/>
          <ac:picMkLst>
            <pc:docMk/>
            <pc:sldMk cId="1960779210" sldId="289"/>
            <ac:picMk id="2" creationId="{BACFC2E7-FD6D-0070-4E2A-C7840968F0F7}"/>
          </ac:picMkLst>
        </pc:picChg>
        <pc:picChg chg="del">
          <ac:chgData name="Sami Durrani" userId="45205e84-0712-4dc9-bb96-ac9d5a682d17" providerId="ADAL" clId="{494792F8-F0D8-DB4D-B3A5-FA2748CB17FF}" dt="2023-11-10T14:34:48.761" v="2" actId="478"/>
          <ac:picMkLst>
            <pc:docMk/>
            <pc:sldMk cId="1960779210" sldId="289"/>
            <ac:picMk id="65" creationId="{00000000-0000-0000-0000-000000000000}"/>
          </ac:picMkLst>
        </pc:picChg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2790799810" sldId="292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3041711519" sldId="293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2356944587" sldId="294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869211558" sldId="295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3263106129" sldId="296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1568382696" sldId="297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1119049755" sldId="301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2025713571" sldId="302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3102197947" sldId="303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827234988" sldId="310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2460005437" sldId="311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3782778810" sldId="312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679586747" sldId="313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367068571" sldId="314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627763523" sldId="315"/>
        </pc:sldMkLst>
      </pc:sldChg>
      <pc:sldChg chg="del">
        <pc:chgData name="Sami Durrani" userId="45205e84-0712-4dc9-bb96-ac9d5a682d17" providerId="ADAL" clId="{494792F8-F0D8-DB4D-B3A5-FA2748CB17FF}" dt="2023-11-10T14:34:55.598" v="4" actId="2696"/>
        <pc:sldMkLst>
          <pc:docMk/>
          <pc:sldMk cId="4272265441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17958600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447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93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73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847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70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line indicates the group of concepts that are “basic error types”</a:t>
            </a:r>
          </a:p>
        </p:txBody>
      </p:sp>
    </p:spTree>
    <p:extLst>
      <p:ext uri="{BB962C8B-B14F-4D97-AF65-F5344CB8AC3E}">
        <p14:creationId xmlns:p14="http://schemas.microsoft.com/office/powerpoint/2010/main" val="3332327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16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Not because people are special and delicate and need to be catered to, but because it’s literally the path of least resistance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252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058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36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709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49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285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90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751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93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91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Use the notes as needed for talking points or notes for students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77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xfrm>
            <a:off x="8153400" y="6632675"/>
            <a:ext cx="762000" cy="153888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a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153400" y="6629400"/>
            <a:ext cx="762000" cy="184666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>
            <a:lvl1pPr marL="344488" indent="-227013">
              <a:buFont typeface="Wingdings" charset="2"/>
              <a:buChar char="§"/>
              <a:tabLst/>
              <a:defRPr sz="2800">
                <a:latin typeface="+mn-ea"/>
                <a:ea typeface="+mn-ea"/>
              </a:defRPr>
            </a:lvl1pPr>
            <a:lvl2pPr marL="688975" indent="-239713">
              <a:buFont typeface="Wingdings" charset="2"/>
              <a:buChar char="§"/>
              <a:tabLst/>
              <a:defRPr sz="2400">
                <a:latin typeface="+mn-ea"/>
                <a:ea typeface="+mn-ea"/>
              </a:defRPr>
            </a:lvl2pPr>
            <a:lvl3pPr marL="979488" indent="-230188">
              <a:buFont typeface="Wingdings" charset="2"/>
              <a:buChar char="§"/>
              <a:tabLst/>
              <a:defRPr sz="2400">
                <a:latin typeface="+mn-ea"/>
                <a:ea typeface="+mn-ea"/>
              </a:defRPr>
            </a:lvl3pPr>
            <a:lvl4pPr marL="1397793" indent="-354806">
              <a:buFont typeface="Wingdings" charset="2"/>
              <a:buChar char="§"/>
              <a:defRPr sz="2800">
                <a:latin typeface="+mn-ea"/>
                <a:ea typeface="+mn-ea"/>
              </a:defRPr>
            </a:lvl4pPr>
            <a:lvl5pPr marL="1610783" indent="-304270">
              <a:buFont typeface="Wingdings" charset="2"/>
              <a:buChar char="§"/>
              <a:defRPr sz="2800"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4056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5438"/>
            <a:ext cx="8382000" cy="6651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1708160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6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" y="6553200"/>
            <a:ext cx="7924800" cy="2286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Copyright 2012 by Eric Bergman &amp; Merrick Kossack.  Do not duplicate or use without author permission.    </a:t>
            </a:r>
          </a:p>
        </p:txBody>
      </p:sp>
      <p:sp>
        <p:nvSpPr>
          <p:cNvPr id="6" name="Rectangle 6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05800" y="6553200"/>
            <a:ext cx="609600" cy="2286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7679E69-3C58-48FC-98EB-DE833BEFD9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277159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57390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83653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hape 2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Shape 23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Shape 24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2400250" y="1683455"/>
            <a:ext cx="63216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Char char="●"/>
              <a:defRPr/>
            </a:lvl1pPr>
            <a:lvl2pPr lvl="1">
              <a:spcBef>
                <a:spcPts val="0"/>
              </a:spcBef>
              <a:buChar char="○"/>
              <a:defRPr/>
            </a:lvl2pPr>
            <a:lvl3pPr lvl="2">
              <a:spcBef>
                <a:spcPts val="0"/>
              </a:spcBef>
              <a:spcAft>
                <a:spcPts val="1200"/>
              </a:spcAft>
              <a:buChar char="■"/>
              <a:defRPr/>
            </a:lvl3pPr>
            <a:lvl4pPr lvl="3">
              <a:spcBef>
                <a:spcPts val="0"/>
              </a:spcBef>
              <a:spcAft>
                <a:spcPts val="1200"/>
              </a:spcAft>
              <a:buChar char="●"/>
              <a:defRPr/>
            </a:lvl4pPr>
            <a:lvl5pPr lvl="4">
              <a:spcBef>
                <a:spcPts val="0"/>
              </a:spcBef>
              <a:spcAft>
                <a:spcPts val="1200"/>
              </a:spcAft>
              <a:buChar char="○"/>
              <a:defRPr/>
            </a:lvl5pPr>
            <a:lvl6pPr lvl="5">
              <a:spcBef>
                <a:spcPts val="0"/>
              </a:spcBef>
              <a:spcAft>
                <a:spcPts val="1200"/>
              </a:spcAft>
              <a:buChar char="■"/>
              <a:defRPr/>
            </a:lvl6pPr>
            <a:lvl7pPr lvl="6">
              <a:spcBef>
                <a:spcPts val="0"/>
              </a:spcBef>
              <a:spcAft>
                <a:spcPts val="1200"/>
              </a:spcAft>
              <a:buChar char="●"/>
              <a:defRPr/>
            </a:lvl7pPr>
            <a:lvl8pPr lvl="7">
              <a:spcBef>
                <a:spcPts val="0"/>
              </a:spcBef>
              <a:spcAft>
                <a:spcPts val="1200"/>
              </a:spcAft>
              <a:buChar char="○"/>
              <a:defRPr/>
            </a:lvl8pPr>
            <a:lvl9pPr lvl="8">
              <a:spcBef>
                <a:spcPts val="0"/>
              </a:spcBef>
              <a:buChar char="■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97999" y="6251678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0131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hape 29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Shape 30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hape 31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2386533" y="1683455"/>
            <a:ext cx="30714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SzPct val="100000"/>
              <a:defRPr sz="1400"/>
            </a:lvl1pPr>
            <a:lvl2pPr lvl="1">
              <a:spcBef>
                <a:spcPts val="0"/>
              </a:spcBef>
              <a:spcAft>
                <a:spcPts val="1200"/>
              </a:spcAft>
              <a:buSzPct val="100000"/>
              <a:defRPr sz="1200"/>
            </a:lvl2pPr>
            <a:lvl3pPr lvl="2">
              <a:spcBef>
                <a:spcPts val="0"/>
              </a:spcBef>
              <a:spcAft>
                <a:spcPts val="1200"/>
              </a:spcAft>
              <a:buSzPct val="100000"/>
              <a:defRPr sz="1200"/>
            </a:lvl3pPr>
            <a:lvl4pPr lvl="3">
              <a:spcBef>
                <a:spcPts val="0"/>
              </a:spcBef>
              <a:spcAft>
                <a:spcPts val="1200"/>
              </a:spcAft>
              <a:buSzPct val="100000"/>
              <a:defRPr sz="1200"/>
            </a:lvl4pPr>
            <a:lvl5pPr lvl="4">
              <a:spcBef>
                <a:spcPts val="0"/>
              </a:spcBef>
              <a:spcAft>
                <a:spcPts val="1200"/>
              </a:spcAft>
              <a:buSzPct val="100000"/>
              <a:defRPr sz="1200"/>
            </a:lvl5pPr>
            <a:lvl6pPr lvl="5">
              <a:spcBef>
                <a:spcPts val="0"/>
              </a:spcBef>
              <a:spcAft>
                <a:spcPts val="1200"/>
              </a:spcAft>
              <a:buSzPct val="100000"/>
              <a:defRPr sz="1200"/>
            </a:lvl6pPr>
            <a:lvl7pPr lvl="6">
              <a:spcBef>
                <a:spcPts val="0"/>
              </a:spcBef>
              <a:spcAft>
                <a:spcPts val="1200"/>
              </a:spcAft>
              <a:buSzPct val="100000"/>
              <a:defRPr sz="1200"/>
            </a:lvl7pPr>
            <a:lvl8pPr lvl="7">
              <a:spcBef>
                <a:spcPts val="0"/>
              </a:spcBef>
              <a:spcAft>
                <a:spcPts val="1200"/>
              </a:spcAft>
              <a:buSzPct val="100000"/>
              <a:defRPr sz="1200"/>
            </a:lvl8pPr>
            <a:lvl9pPr lvl="8">
              <a:spcBef>
                <a:spcPts val="0"/>
              </a:spcBef>
              <a:spcAft>
                <a:spcPts val="1200"/>
              </a:spcAft>
              <a:buSzPct val="100000"/>
              <a:defRPr sz="12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5636802" y="1683455"/>
            <a:ext cx="30714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SzPct val="100000"/>
              <a:defRPr sz="1400"/>
            </a:lvl1pPr>
            <a:lvl2pPr lvl="1">
              <a:spcBef>
                <a:spcPts val="0"/>
              </a:spcBef>
              <a:spcAft>
                <a:spcPts val="1200"/>
              </a:spcAft>
              <a:buSzPct val="100000"/>
              <a:defRPr sz="1200"/>
            </a:lvl2pPr>
            <a:lvl3pPr lvl="2">
              <a:spcBef>
                <a:spcPts val="0"/>
              </a:spcBef>
              <a:spcAft>
                <a:spcPts val="1200"/>
              </a:spcAft>
              <a:buSzPct val="100000"/>
              <a:defRPr sz="1200"/>
            </a:lvl3pPr>
            <a:lvl4pPr lvl="3">
              <a:spcBef>
                <a:spcPts val="0"/>
              </a:spcBef>
              <a:spcAft>
                <a:spcPts val="1200"/>
              </a:spcAft>
              <a:buSzPct val="100000"/>
              <a:defRPr sz="1200"/>
            </a:lvl4pPr>
            <a:lvl5pPr lvl="4">
              <a:spcBef>
                <a:spcPts val="0"/>
              </a:spcBef>
              <a:spcAft>
                <a:spcPts val="1200"/>
              </a:spcAft>
              <a:buSzPct val="100000"/>
              <a:defRPr sz="1200"/>
            </a:lvl5pPr>
            <a:lvl6pPr lvl="5">
              <a:spcBef>
                <a:spcPts val="0"/>
              </a:spcBef>
              <a:spcAft>
                <a:spcPts val="1200"/>
              </a:spcAft>
              <a:buSzPct val="100000"/>
              <a:defRPr sz="1200"/>
            </a:lvl6pPr>
            <a:lvl7pPr lvl="6">
              <a:spcBef>
                <a:spcPts val="0"/>
              </a:spcBef>
              <a:spcAft>
                <a:spcPts val="1200"/>
              </a:spcAft>
              <a:buSzPct val="100000"/>
              <a:defRPr sz="1200"/>
            </a:lvl7pPr>
            <a:lvl8pPr lvl="7">
              <a:spcBef>
                <a:spcPts val="0"/>
              </a:spcBef>
              <a:spcAft>
                <a:spcPts val="1200"/>
              </a:spcAft>
              <a:buSzPct val="100000"/>
              <a:defRPr sz="1200"/>
            </a:lvl8pPr>
            <a:lvl9pPr lvl="8">
              <a:spcBef>
                <a:spcPts val="0"/>
              </a:spcBef>
              <a:spcAft>
                <a:spcPts val="1200"/>
              </a:spcAft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97999" y="6251678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008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457199" y="989014"/>
            <a:ext cx="7882581" cy="1586"/>
          </a:xfrm>
          <a:prstGeom prst="line">
            <a:avLst/>
          </a:prstGeom>
          <a:ln>
            <a:solidFill>
              <a:srgbClr val="6A9DAE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457200" y="1246703"/>
            <a:ext cx="7882580" cy="5611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/>
          <a:p>
            <a:pPr marL="419100" lvl="0" indent="-382587">
              <a:spcBef>
                <a:spcPts val="700"/>
              </a:spcBef>
              <a:buClr>
                <a:srgbClr val="6EA0B0"/>
              </a:buClr>
              <a:buSzPct val="80000"/>
              <a:buFont typeface="Wingdings" panose="05000000000000000000" pitchFamily="2" charset="2"/>
              <a:buChar char="§"/>
              <a:defRPr sz="1800"/>
            </a:pPr>
            <a:r>
              <a:rPr sz="3000" dirty="0"/>
              <a:t>Body Level One</a:t>
            </a:r>
          </a:p>
          <a:p>
            <a:pPr lvl="1">
              <a:defRPr sz="1800"/>
            </a:pPr>
            <a:r>
              <a:rPr sz="3000" dirty="0"/>
              <a:t>Body Level Two</a:t>
            </a:r>
          </a:p>
          <a:p>
            <a:pPr lvl="2">
              <a:defRPr sz="1800"/>
            </a:pPr>
            <a:r>
              <a:rPr sz="3000" dirty="0"/>
              <a:t>Body Level Three</a:t>
            </a:r>
          </a:p>
          <a:p>
            <a:pPr lvl="3">
              <a:defRPr sz="1800"/>
            </a:pPr>
            <a:r>
              <a:rPr sz="3000" dirty="0"/>
              <a:t>Body Level Four</a:t>
            </a:r>
          </a:p>
          <a:p>
            <a:pPr lvl="4">
              <a:defRPr sz="1800"/>
            </a:pPr>
            <a:r>
              <a:rPr sz="3000" dirty="0"/>
              <a:t>Body Level Five</a:t>
            </a:r>
          </a:p>
        </p:txBody>
      </p:sp>
      <p:sp>
        <p:nvSpPr>
          <p:cNvPr id="7" name="Shape 7"/>
          <p:cNvSpPr>
            <a:spLocks noGrp="1"/>
          </p:cNvSpPr>
          <p:nvPr>
            <p:ph type="sldNum" sz="quarter" idx="2"/>
          </p:nvPr>
        </p:nvSpPr>
        <p:spPr>
          <a:xfrm>
            <a:off x="8153400" y="6601897"/>
            <a:ext cx="762000" cy="1846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453080" y="152400"/>
            <a:ext cx="78867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ransition spd="med"/>
  <p:hf hdr="0" ftr="0" dt="0"/>
  <p:txStyles>
    <p:titleStyle>
      <a:lvl1pPr>
        <a:defRPr sz="3200">
          <a:latin typeface="+mn-lt"/>
          <a:ea typeface="Franklin Gothic Book"/>
          <a:cs typeface="Franklin Gothic Book"/>
          <a:sym typeface="Franklin Gothic Book"/>
        </a:defRPr>
      </a:lvl1pPr>
      <a:lvl2pPr>
        <a:defRPr sz="4600">
          <a:latin typeface="Franklin Gothic Book"/>
          <a:ea typeface="Franklin Gothic Book"/>
          <a:cs typeface="Franklin Gothic Book"/>
          <a:sym typeface="Franklin Gothic Book"/>
        </a:defRPr>
      </a:lvl2pPr>
      <a:lvl3pPr>
        <a:defRPr sz="4600">
          <a:latin typeface="Franklin Gothic Book"/>
          <a:ea typeface="Franklin Gothic Book"/>
          <a:cs typeface="Franklin Gothic Book"/>
          <a:sym typeface="Franklin Gothic Book"/>
        </a:defRPr>
      </a:lvl3pPr>
      <a:lvl4pPr>
        <a:defRPr sz="4600">
          <a:latin typeface="Franklin Gothic Book"/>
          <a:ea typeface="Franklin Gothic Book"/>
          <a:cs typeface="Franklin Gothic Book"/>
          <a:sym typeface="Franklin Gothic Book"/>
        </a:defRPr>
      </a:lvl4pPr>
      <a:lvl5pPr>
        <a:defRPr sz="4600">
          <a:latin typeface="Franklin Gothic Book"/>
          <a:ea typeface="Franklin Gothic Book"/>
          <a:cs typeface="Franklin Gothic Book"/>
          <a:sym typeface="Franklin Gothic Book"/>
        </a:defRPr>
      </a:lvl5pPr>
      <a:lvl6pPr indent="457200">
        <a:defRPr sz="4600">
          <a:latin typeface="Franklin Gothic Book"/>
          <a:ea typeface="Franklin Gothic Book"/>
          <a:cs typeface="Franklin Gothic Book"/>
          <a:sym typeface="Franklin Gothic Book"/>
        </a:defRPr>
      </a:lvl6pPr>
      <a:lvl7pPr indent="914400">
        <a:defRPr sz="4600">
          <a:latin typeface="Franklin Gothic Book"/>
          <a:ea typeface="Franklin Gothic Book"/>
          <a:cs typeface="Franklin Gothic Book"/>
          <a:sym typeface="Franklin Gothic Book"/>
        </a:defRPr>
      </a:lvl7pPr>
      <a:lvl8pPr indent="1371600">
        <a:defRPr sz="4600">
          <a:latin typeface="Franklin Gothic Book"/>
          <a:ea typeface="Franklin Gothic Book"/>
          <a:cs typeface="Franklin Gothic Book"/>
          <a:sym typeface="Franklin Gothic Book"/>
        </a:defRPr>
      </a:lvl8pPr>
      <a:lvl9pPr indent="1828800">
        <a:defRPr sz="4600">
          <a:latin typeface="Franklin Gothic Book"/>
          <a:ea typeface="Franklin Gothic Book"/>
          <a:cs typeface="Franklin Gothic Book"/>
          <a:sym typeface="Franklin Gothic Book"/>
        </a:defRPr>
      </a:lvl9pPr>
    </p:titleStyle>
    <p:bodyStyle>
      <a:lvl1pPr marL="550863" indent="-514350">
        <a:spcBef>
          <a:spcPts val="700"/>
        </a:spcBef>
        <a:buClr>
          <a:srgbClr val="6EA0B0"/>
        </a:buClr>
        <a:buSzPct val="80000"/>
        <a:buFont typeface="Arial" panose="020B0604020202020204" pitchFamily="34" charset="0"/>
        <a:buChar char="•"/>
        <a:defRPr sz="3000" dirty="0">
          <a:latin typeface="+mn-lt"/>
          <a:ea typeface="Arial"/>
          <a:cs typeface="Arial"/>
          <a:sym typeface="Arial"/>
        </a:defRPr>
      </a:lvl1pPr>
      <a:lvl2pPr marL="764320" indent="-315057">
        <a:spcBef>
          <a:spcPts val="700"/>
        </a:spcBef>
        <a:buClr>
          <a:srgbClr val="6EA0B0"/>
        </a:buClr>
        <a:buSzPct val="9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2pPr>
      <a:lvl3pPr marL="1068784" indent="-319484">
        <a:spcBef>
          <a:spcPts val="700"/>
        </a:spcBef>
        <a:buClr>
          <a:srgbClr val="6EA0B0"/>
        </a:buClr>
        <a:buSzPct val="85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3pPr>
      <a:lvl4pPr marL="1397793" indent="-354806">
        <a:spcBef>
          <a:spcPts val="700"/>
        </a:spcBef>
        <a:buClr>
          <a:srgbClr val="6EA0B0"/>
        </a:buClr>
        <a:buSzPct val="9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4pPr>
      <a:lvl5pPr marL="1610783" indent="-304270">
        <a:spcBef>
          <a:spcPts val="700"/>
        </a:spcBef>
        <a:buClr>
          <a:srgbClr val="6EA0B0"/>
        </a:buClr>
        <a:buSzPct val="10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5pPr>
      <a:lvl6pPr marL="20679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6pPr>
      <a:lvl7pPr marL="25251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7pPr>
      <a:lvl8pPr marL="29823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8pPr>
      <a:lvl9pPr marL="34395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9pPr>
    </p:bodyStyle>
    <p:otherStyle>
      <a:lvl1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i.org/10.2345/0899-8205-54.1.28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556910" y="3352800"/>
            <a:ext cx="7520290" cy="0"/>
          </a:xfrm>
          <a:prstGeom prst="line">
            <a:avLst/>
          </a:prstGeom>
          <a:ln>
            <a:solidFill>
              <a:srgbClr val="6A9DAE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4" name="Shape 64"/>
          <p:cNvSpPr/>
          <p:nvPr/>
        </p:nvSpPr>
        <p:spPr>
          <a:xfrm>
            <a:off x="1597023" y="6266021"/>
            <a:ext cx="648017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spcBef>
                <a:spcPts val="200"/>
              </a:spcBef>
              <a:defRPr sz="1200"/>
            </a:lvl1pPr>
          </a:lstStyle>
          <a:p>
            <a:pPr lvl="0">
              <a:defRPr sz="1800"/>
            </a:pPr>
            <a:r>
              <a:rPr lang="en-US" sz="1400" dirty="0">
                <a:latin typeface="+mj-lt"/>
              </a:rPr>
              <a:t>Kate MacNamee, MS</a:t>
            </a:r>
            <a:endParaRPr sz="1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F1C20-1729-502B-6468-FFD00C5A83A8}"/>
              </a:ext>
            </a:extLst>
          </p:cNvPr>
          <p:cNvSpPr txBox="1"/>
          <p:nvPr/>
        </p:nvSpPr>
        <p:spPr>
          <a:xfrm>
            <a:off x="532256" y="3407628"/>
            <a:ext cx="762114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r"/>
            <a:r>
              <a:rPr lang="en-US" sz="2400" dirty="0"/>
              <a:t>Human Error Frameworks – How to think about errors</a:t>
            </a:r>
            <a:endParaRPr lang="en-US" sz="2400" i="1" dirty="0"/>
          </a:p>
        </p:txBody>
      </p:sp>
      <p:pic>
        <p:nvPicPr>
          <p:cNvPr id="2" name="Tufts_univ_seal_blue.jpg">
            <a:extLst>
              <a:ext uri="{FF2B5EF4-FFF2-40B4-BE49-F238E27FC236}">
                <a16:creationId xmlns:a16="http://schemas.microsoft.com/office/drawing/2014/main" id="{BACFC2E7-FD6D-0070-4E2A-C7840968F0F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36" y="2133600"/>
            <a:ext cx="2774496" cy="16355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6077921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8081320" cy="5486400"/>
          </a:xfrm>
        </p:spPr>
        <p:txBody>
          <a:bodyPr/>
          <a:lstStyle/>
          <a:p>
            <a:r>
              <a:rPr lang="en-US" sz="2400" dirty="0"/>
              <a:t>This topic has already been covered, but as a quick reminder we are talking about:</a:t>
            </a:r>
          </a:p>
          <a:p>
            <a:endParaRPr lang="en-US" sz="2400" dirty="0"/>
          </a:p>
          <a:p>
            <a:pPr marL="117475" indent="0">
              <a:buNone/>
            </a:pPr>
            <a:r>
              <a:rPr lang="en-US" sz="2400" b="1" u="sng" dirty="0"/>
              <a:t>Any action</a:t>
            </a:r>
            <a:r>
              <a:rPr lang="en-US" sz="2400" b="1" dirty="0"/>
              <a:t> executed by one or more people leading to a deviation from intention, expectation, or desirability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Human Error</a:t>
            </a:r>
          </a:p>
        </p:txBody>
      </p:sp>
    </p:spTree>
    <p:extLst>
      <p:ext uri="{BB962C8B-B14F-4D97-AF65-F5344CB8AC3E}">
        <p14:creationId xmlns:p14="http://schemas.microsoft.com/office/powerpoint/2010/main" val="142966883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8081320" cy="5486400"/>
          </a:xfrm>
        </p:spPr>
        <p:txBody>
          <a:bodyPr/>
          <a:lstStyle/>
          <a:p>
            <a:r>
              <a:rPr lang="en-US" sz="2400" dirty="0"/>
              <a:t>Frameworks are constructs - convenient ways to attempt to organize complex information</a:t>
            </a:r>
          </a:p>
          <a:p>
            <a:endParaRPr lang="en-US" sz="2400" dirty="0"/>
          </a:p>
          <a:p>
            <a:pPr lvl="1"/>
            <a:r>
              <a:rPr lang="en-US" sz="2000" dirty="0"/>
              <a:t>In numerous cases, frameworks may need to be adjust to be a true fit the issue you’re trying to solve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Some frameworks assess the error in a limited system (e.g., human and device)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Others asses the errors within a broader systemic context</a:t>
            </a:r>
          </a:p>
          <a:p>
            <a:pPr lvl="1"/>
            <a:endParaRPr lang="en-US" sz="2000" dirty="0"/>
          </a:p>
          <a:p>
            <a:r>
              <a:rPr lang="en-US" sz="2400" dirty="0"/>
              <a:t>Different frameworks may be more appropriate than others, depending on the why and how you intend to use them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Errors are often categorized using frameworks</a:t>
            </a:r>
          </a:p>
        </p:txBody>
      </p:sp>
    </p:spTree>
    <p:extLst>
      <p:ext uri="{BB962C8B-B14F-4D97-AF65-F5344CB8AC3E}">
        <p14:creationId xmlns:p14="http://schemas.microsoft.com/office/powerpoint/2010/main" val="281048851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F1AAD92-49E9-5153-9E4F-75EF06F7A7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Error</a:t>
            </a:r>
          </a:p>
          <a:p>
            <a:pPr lvl="1"/>
            <a:r>
              <a:rPr lang="en-US" dirty="0"/>
              <a:t>Unintended action or decision</a:t>
            </a:r>
          </a:p>
          <a:p>
            <a:pPr lvl="1"/>
            <a:endParaRPr lang="en-US" dirty="0"/>
          </a:p>
          <a:p>
            <a:r>
              <a:rPr lang="en-US" dirty="0"/>
              <a:t>Violation</a:t>
            </a:r>
          </a:p>
          <a:p>
            <a:pPr lvl="1"/>
            <a:r>
              <a:rPr lang="en-US" dirty="0"/>
              <a:t>Deliberate deviation from rule or procedure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Psychologists and good designers would suggest that violations also fall into the category of error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 frameworks delineate between errors and violations</a:t>
            </a:r>
          </a:p>
        </p:txBody>
      </p:sp>
    </p:spTree>
    <p:extLst>
      <p:ext uri="{BB962C8B-B14F-4D97-AF65-F5344CB8AC3E}">
        <p14:creationId xmlns:p14="http://schemas.microsoft.com/office/powerpoint/2010/main" val="36310044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 frameworks delineate between errors and violations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4615E2-55E7-5F4C-8E59-0B64288887AA}"/>
              </a:ext>
            </a:extLst>
          </p:cNvPr>
          <p:cNvSpPr/>
          <p:nvPr/>
        </p:nvSpPr>
        <p:spPr>
          <a:xfrm>
            <a:off x="3297043" y="1736195"/>
            <a:ext cx="1524000" cy="7150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Human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Failure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627269-C668-A342-EFB5-A745FCC5EACD}"/>
              </a:ext>
            </a:extLst>
          </p:cNvPr>
          <p:cNvSpPr/>
          <p:nvPr/>
        </p:nvSpPr>
        <p:spPr>
          <a:xfrm>
            <a:off x="5600700" y="3275063"/>
            <a:ext cx="1524000" cy="40862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Violation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9A6807-8806-2388-C772-1D5DDB52D021}"/>
              </a:ext>
            </a:extLst>
          </p:cNvPr>
          <p:cNvSpPr/>
          <p:nvPr/>
        </p:nvSpPr>
        <p:spPr>
          <a:xfrm>
            <a:off x="993387" y="3275063"/>
            <a:ext cx="1524000" cy="40862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Error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46B9E4-17ED-B2B1-D713-8D0385EA943E}"/>
              </a:ext>
            </a:extLst>
          </p:cNvPr>
          <p:cNvSpPr/>
          <p:nvPr/>
        </p:nvSpPr>
        <p:spPr>
          <a:xfrm>
            <a:off x="2339897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Knowledge based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068C40-FFB3-8E30-99F2-AB8BDA93DDD4}"/>
              </a:ext>
            </a:extLst>
          </p:cNvPr>
          <p:cNvSpPr/>
          <p:nvPr/>
        </p:nvSpPr>
        <p:spPr>
          <a:xfrm>
            <a:off x="1260087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Rule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based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1A12B5-E962-06F5-A8C0-A526837A39A4}"/>
              </a:ext>
            </a:extLst>
          </p:cNvPr>
          <p:cNvSpPr/>
          <p:nvPr/>
        </p:nvSpPr>
        <p:spPr>
          <a:xfrm>
            <a:off x="180278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Skill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based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949030-F0C7-2313-83F0-F37D910202D3}"/>
              </a:ext>
            </a:extLst>
          </p:cNvPr>
          <p:cNvSpPr/>
          <p:nvPr/>
        </p:nvSpPr>
        <p:spPr>
          <a:xfrm>
            <a:off x="3732871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Routine	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92F25B-6046-FE0C-5848-C5351BBC5652}"/>
              </a:ext>
            </a:extLst>
          </p:cNvPr>
          <p:cNvSpPr/>
          <p:nvPr/>
        </p:nvSpPr>
        <p:spPr>
          <a:xfrm>
            <a:off x="4800600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Situational	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82BD9F9-819E-F1EC-94F9-CF91FB6B9C0A}"/>
              </a:ext>
            </a:extLst>
          </p:cNvPr>
          <p:cNvSpPr/>
          <p:nvPr/>
        </p:nvSpPr>
        <p:spPr>
          <a:xfrm>
            <a:off x="5867400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Exceptional	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9CCD71-7DE4-BAC6-B783-1E2A783F3205}"/>
              </a:ext>
            </a:extLst>
          </p:cNvPr>
          <p:cNvSpPr/>
          <p:nvPr/>
        </p:nvSpPr>
        <p:spPr>
          <a:xfrm>
            <a:off x="6935129" y="4823224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Optimizing	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87081E-4C10-52B7-12BC-A98B793129F8}"/>
              </a:ext>
            </a:extLst>
          </p:cNvPr>
          <p:cNvSpPr/>
          <p:nvPr/>
        </p:nvSpPr>
        <p:spPr>
          <a:xfrm>
            <a:off x="8001000" y="4819507"/>
            <a:ext cx="990600" cy="51077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Individual	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67F1DF-6F21-C062-D080-B101E08C8A5F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675578" y="3683683"/>
            <a:ext cx="1079809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BC49A7-7A6E-A3C2-26B0-49026C08E69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755387" y="3683683"/>
            <a:ext cx="0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9541F4-8E58-24FC-64A9-992082EC38F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755387" y="3683683"/>
            <a:ext cx="1079810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C9FBAC-FFD0-B6CA-701E-4F388F45D9FB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1755387" y="2451282"/>
            <a:ext cx="2303656" cy="82378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320DAC-14B9-4CFA-E9A9-2C38B509BAE4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4059043" y="2451282"/>
            <a:ext cx="2303657" cy="82378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8F1FB4-F23D-5D96-D77E-5F10D5D33845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4228171" y="3683683"/>
            <a:ext cx="2134529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DDFCB8-583C-9AB3-4A0C-1648535A8AF8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flipH="1">
            <a:off x="5295900" y="3683683"/>
            <a:ext cx="1066800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2B3A740-591A-D575-3142-E0910F895A05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6362700" y="3683683"/>
            <a:ext cx="0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79DA2AE-D27C-359A-BCBC-F1B412594C35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6362700" y="3683683"/>
            <a:ext cx="1067729" cy="113954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2102AC-70D6-9FD5-0154-0A028D3A9491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6362700" y="3683683"/>
            <a:ext cx="2133600" cy="113582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C8A8C06-BDE6-B1CC-5685-A0736FDC3C70}"/>
              </a:ext>
            </a:extLst>
          </p:cNvPr>
          <p:cNvSpPr txBox="1"/>
          <p:nvPr/>
        </p:nvSpPr>
        <p:spPr>
          <a:xfrm>
            <a:off x="180278" y="6520005"/>
            <a:ext cx="3543597" cy="2616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000000"/>
                </a:solidFill>
              </a:rPr>
              <a:t>Diagram a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dapted from DO  - 10.21125/inted.2016.0391</a:t>
            </a:r>
          </a:p>
        </p:txBody>
      </p:sp>
    </p:spTree>
    <p:extLst>
      <p:ext uri="{BB962C8B-B14F-4D97-AF65-F5344CB8AC3E}">
        <p14:creationId xmlns:p14="http://schemas.microsoft.com/office/powerpoint/2010/main" val="23143638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 frameworks start with intent </a:t>
            </a:r>
            <a:br>
              <a:rPr lang="en-US" dirty="0"/>
            </a:br>
            <a:r>
              <a:rPr lang="en-US" dirty="0"/>
              <a:t>(this can manifest in problematic ways)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1E103C-92CC-0766-0532-FD1DBC3FA7E1}"/>
              </a:ext>
            </a:extLst>
          </p:cNvPr>
          <p:cNvSpPr/>
          <p:nvPr/>
        </p:nvSpPr>
        <p:spPr>
          <a:xfrm>
            <a:off x="862418" y="2674203"/>
            <a:ext cx="28956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F20074-CCD6-1CF3-4B16-AD145C3E27FF}"/>
              </a:ext>
            </a:extLst>
          </p:cNvPr>
          <p:cNvSpPr/>
          <p:nvPr/>
        </p:nvSpPr>
        <p:spPr>
          <a:xfrm>
            <a:off x="6963013" y="3988884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48B8F1-1D26-7782-3E5F-823773BEEC44}"/>
              </a:ext>
            </a:extLst>
          </p:cNvPr>
          <p:cNvSpPr/>
          <p:nvPr/>
        </p:nvSpPr>
        <p:spPr>
          <a:xfrm>
            <a:off x="4876800" y="3988884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BFDF9D-F552-D331-457F-E273486B4276}"/>
              </a:ext>
            </a:extLst>
          </p:cNvPr>
          <p:cNvSpPr/>
          <p:nvPr/>
        </p:nvSpPr>
        <p:spPr>
          <a:xfrm>
            <a:off x="2671647" y="3993066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14C93F-638A-0D2F-580F-155D2E0027CB}"/>
              </a:ext>
            </a:extLst>
          </p:cNvPr>
          <p:cNvSpPr/>
          <p:nvPr/>
        </p:nvSpPr>
        <p:spPr>
          <a:xfrm>
            <a:off x="525964" y="3990743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BA6432A-C0B6-CE2B-AA93-A985817B5389}"/>
              </a:ext>
            </a:extLst>
          </p:cNvPr>
          <p:cNvSpPr/>
          <p:nvPr/>
        </p:nvSpPr>
        <p:spPr>
          <a:xfrm>
            <a:off x="320596" y="5468744"/>
            <a:ext cx="1934737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EDF8506-6ECE-21E9-2E2B-3545959A4370}"/>
              </a:ext>
            </a:extLst>
          </p:cNvPr>
          <p:cNvSpPr/>
          <p:nvPr/>
        </p:nvSpPr>
        <p:spPr>
          <a:xfrm>
            <a:off x="2466279" y="5468744"/>
            <a:ext cx="1934737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A6AF93-4493-A0EC-0FC6-3481466B6B63}"/>
              </a:ext>
            </a:extLst>
          </p:cNvPr>
          <p:cNvSpPr/>
          <p:nvPr/>
        </p:nvSpPr>
        <p:spPr>
          <a:xfrm>
            <a:off x="4671431" y="5468744"/>
            <a:ext cx="1934737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D910E06-329D-D23E-3890-5C9886D0C8D3}"/>
              </a:ext>
            </a:extLst>
          </p:cNvPr>
          <p:cNvSpPr/>
          <p:nvPr/>
        </p:nvSpPr>
        <p:spPr>
          <a:xfrm>
            <a:off x="6757645" y="5468744"/>
            <a:ext cx="1934737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82FF8BE-0EB9-E1FF-0DB0-810A98D0A08A}"/>
              </a:ext>
            </a:extLst>
          </p:cNvPr>
          <p:cNvSpPr/>
          <p:nvPr/>
        </p:nvSpPr>
        <p:spPr>
          <a:xfrm>
            <a:off x="3703133" y="1452213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840024-EAC2-4A51-2D53-7951BE01E74C}"/>
              </a:ext>
            </a:extLst>
          </p:cNvPr>
          <p:cNvSpPr/>
          <p:nvPr/>
        </p:nvSpPr>
        <p:spPr>
          <a:xfrm>
            <a:off x="5158430" y="2672344"/>
            <a:ext cx="28956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1CCB78-1B72-4F1F-6070-34D6C62B090E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287964" y="3510544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89B1C1-469E-FDAD-0C72-E5FBC4CE55B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287964" y="4827084"/>
            <a:ext cx="1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5D4CAA-FBD3-B79E-B937-5C09FA8C85B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429000" y="4827084"/>
            <a:ext cx="4648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14090C-1778-B774-30CD-21FD1CB6FDC2}"/>
              </a:ext>
            </a:extLst>
          </p:cNvPr>
          <p:cNvCxnSpPr>
            <a:cxnSpLocks/>
          </p:cNvCxnSpPr>
          <p:nvPr/>
        </p:nvCxnSpPr>
        <p:spPr>
          <a:xfrm>
            <a:off x="3429000" y="3508685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6CC096-3B54-CE93-57D8-664AF1B38A99}"/>
              </a:ext>
            </a:extLst>
          </p:cNvPr>
          <p:cNvCxnSpPr>
            <a:cxnSpLocks/>
          </p:cNvCxnSpPr>
          <p:nvPr/>
        </p:nvCxnSpPr>
        <p:spPr>
          <a:xfrm>
            <a:off x="5638800" y="3508685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C8D560-E6A7-76CE-9CA1-1B89A87A334C}"/>
              </a:ext>
            </a:extLst>
          </p:cNvPr>
          <p:cNvCxnSpPr>
            <a:cxnSpLocks/>
          </p:cNvCxnSpPr>
          <p:nvPr/>
        </p:nvCxnSpPr>
        <p:spPr>
          <a:xfrm>
            <a:off x="7725013" y="3508685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2EAA1B-7F6B-0706-1622-484F97F2AF49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725013" y="4827084"/>
            <a:ext cx="1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41CC68-B013-D541-F095-4E101FB3E248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5638800" y="4827084"/>
            <a:ext cx="0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A28C5B-428F-9FD4-D970-6A209E741D59}"/>
              </a:ext>
            </a:extLst>
          </p:cNvPr>
          <p:cNvCxnSpPr>
            <a:cxnSpLocks/>
            <a:stCxn id="19" idx="2"/>
            <a:endCxn id="7" idx="0"/>
          </p:cNvCxnSpPr>
          <p:nvPr/>
        </p:nvCxnSpPr>
        <p:spPr>
          <a:xfrm flipH="1">
            <a:off x="2310218" y="2290413"/>
            <a:ext cx="2154915" cy="38379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6429477-0335-AA42-336B-63D13FF385E1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4465133" y="2290413"/>
            <a:ext cx="2141097" cy="381931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593199-82E6-F536-C687-C2AC891FB1A0}"/>
              </a:ext>
            </a:extLst>
          </p:cNvPr>
          <p:cNvSpPr txBox="1"/>
          <p:nvPr/>
        </p:nvSpPr>
        <p:spPr>
          <a:xfrm>
            <a:off x="4047071" y="1548149"/>
            <a:ext cx="83612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Human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Failure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87212B-15A4-79D3-559B-03EE6EB5247B}"/>
              </a:ext>
            </a:extLst>
          </p:cNvPr>
          <p:cNvSpPr txBox="1"/>
          <p:nvPr/>
        </p:nvSpPr>
        <p:spPr>
          <a:xfrm>
            <a:off x="5312069" y="2906779"/>
            <a:ext cx="2588207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</a:rPr>
              <a:t>Unintended outcome/action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91AAD6-477B-8F52-40BB-13104A674B0F}"/>
              </a:ext>
            </a:extLst>
          </p:cNvPr>
          <p:cNvSpPr txBox="1"/>
          <p:nvPr/>
        </p:nvSpPr>
        <p:spPr>
          <a:xfrm>
            <a:off x="1085466" y="2906779"/>
            <a:ext cx="2339741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Intended outcome/action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3A8563-DF01-692D-1240-8BAC4A889EC1}"/>
              </a:ext>
            </a:extLst>
          </p:cNvPr>
          <p:cNvSpPr txBox="1"/>
          <p:nvPr/>
        </p:nvSpPr>
        <p:spPr>
          <a:xfrm>
            <a:off x="7486487" y="4221203"/>
            <a:ext cx="47705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Slip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D00FD5-4FB6-BD38-3D29-6F067B7AC62A}"/>
              </a:ext>
            </a:extLst>
          </p:cNvPr>
          <p:cNvSpPr txBox="1"/>
          <p:nvPr/>
        </p:nvSpPr>
        <p:spPr>
          <a:xfrm>
            <a:off x="5278446" y="4229824"/>
            <a:ext cx="72070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Lapse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04698C-49C2-72F0-D8FA-80A44AED935E}"/>
              </a:ext>
            </a:extLst>
          </p:cNvPr>
          <p:cNvSpPr txBox="1"/>
          <p:nvPr/>
        </p:nvSpPr>
        <p:spPr>
          <a:xfrm>
            <a:off x="2985291" y="4225410"/>
            <a:ext cx="88742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Mistake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24F503-2260-CDB7-1D0A-151FF337BB04}"/>
              </a:ext>
            </a:extLst>
          </p:cNvPr>
          <p:cNvSpPr txBox="1"/>
          <p:nvPr/>
        </p:nvSpPr>
        <p:spPr>
          <a:xfrm>
            <a:off x="799370" y="4229824"/>
            <a:ext cx="9771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Violation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860FF4-C427-3ECD-4A99-471A7C297782}"/>
              </a:ext>
            </a:extLst>
          </p:cNvPr>
          <p:cNvSpPr/>
          <p:nvPr/>
        </p:nvSpPr>
        <p:spPr>
          <a:xfrm>
            <a:off x="2466279" y="3810000"/>
            <a:ext cx="6226103" cy="1143000"/>
          </a:xfrm>
          <a:prstGeom prst="rect">
            <a:avLst/>
          </a:prstGeom>
          <a:noFill/>
          <a:ln w="25400" cap="flat">
            <a:solidFill>
              <a:srgbClr val="6EA0B0"/>
            </a:solidFill>
            <a:prstDash val="dash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CA425D-B5B3-3160-342E-748FED881FCA}"/>
              </a:ext>
            </a:extLst>
          </p:cNvPr>
          <p:cNvSpPr txBox="1"/>
          <p:nvPr/>
        </p:nvSpPr>
        <p:spPr>
          <a:xfrm>
            <a:off x="7546041" y="76116"/>
            <a:ext cx="1543049" cy="430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000000"/>
                </a:solidFill>
              </a:rPr>
              <a:t>Diagram developed by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rgbClr val="000000"/>
                </a:solidFill>
              </a:rPr>
              <a:t>TUV Rheinland/</a:t>
            </a:r>
            <a:r>
              <a:rPr lang="en-US" sz="1100" dirty="0" err="1">
                <a:solidFill>
                  <a:srgbClr val="000000"/>
                </a:solidFill>
              </a:rPr>
              <a:t>Ristek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AA2A9A-36D6-12E1-EBB4-AE0306EA4B34}"/>
              </a:ext>
            </a:extLst>
          </p:cNvPr>
          <p:cNvSpPr txBox="1"/>
          <p:nvPr/>
        </p:nvSpPr>
        <p:spPr>
          <a:xfrm>
            <a:off x="542689" y="5646005"/>
            <a:ext cx="1490550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We knowingly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break from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the rules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E8F197-D5BB-17A4-9D66-D8678B666A76}"/>
              </a:ext>
            </a:extLst>
          </p:cNvPr>
          <p:cNvSpPr txBox="1"/>
          <p:nvPr/>
        </p:nvSpPr>
        <p:spPr>
          <a:xfrm>
            <a:off x="2688372" y="5563191"/>
            <a:ext cx="1490550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Believe we have done the right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thing, but are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wrong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0BBD29-367A-D40D-5592-7269F3DE3E08}"/>
              </a:ext>
            </a:extLst>
          </p:cNvPr>
          <p:cNvSpPr txBox="1"/>
          <p:nvPr/>
        </p:nvSpPr>
        <p:spPr>
          <a:xfrm>
            <a:off x="4921203" y="5660192"/>
            <a:ext cx="1432920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We forget to do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Something; our memory fails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F1D37C-235E-74C7-E448-633F5B241794}"/>
              </a:ext>
            </a:extLst>
          </p:cNvPr>
          <p:cNvSpPr txBox="1"/>
          <p:nvPr/>
        </p:nvSpPr>
        <p:spPr>
          <a:xfrm>
            <a:off x="6985783" y="5670913"/>
            <a:ext cx="1478460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We do the wrong thing by accident; our attention fails</a:t>
            </a:r>
          </a:p>
        </p:txBody>
      </p:sp>
    </p:spTree>
    <p:extLst>
      <p:ext uri="{BB962C8B-B14F-4D97-AF65-F5344CB8AC3E}">
        <p14:creationId xmlns:p14="http://schemas.microsoft.com/office/powerpoint/2010/main" val="10505584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981200"/>
            <a:ext cx="8081320" cy="4648200"/>
          </a:xfrm>
        </p:spPr>
        <p:txBody>
          <a:bodyPr/>
          <a:lstStyle/>
          <a:p>
            <a:r>
              <a:rPr lang="en-US" sz="2400" dirty="0"/>
              <a:t>Be starting with intention, it implicitly suggests user responsibility</a:t>
            </a:r>
          </a:p>
          <a:p>
            <a:pPr lvl="1"/>
            <a:r>
              <a:rPr lang="en-US" sz="2000" dirty="0"/>
              <a:t>Do we need to design systems to guard against misuse?</a:t>
            </a:r>
          </a:p>
          <a:p>
            <a:pPr lvl="2"/>
            <a:r>
              <a:rPr lang="en-US" sz="2000" dirty="0"/>
              <a:t>YES</a:t>
            </a:r>
          </a:p>
          <a:p>
            <a:pPr lvl="1"/>
            <a:endParaRPr lang="en-US" sz="2000" dirty="0"/>
          </a:p>
          <a:p>
            <a:r>
              <a:rPr lang="en-US" sz="2400" dirty="0"/>
              <a:t>It favors systems that assumes the “happy path” is the right path</a:t>
            </a:r>
          </a:p>
          <a:p>
            <a:pPr lvl="1"/>
            <a:r>
              <a:rPr lang="en-US" sz="2000" dirty="0"/>
              <a:t>We can call this development arrogance</a:t>
            </a:r>
          </a:p>
          <a:p>
            <a:pPr lvl="1"/>
            <a:r>
              <a:rPr lang="en-US" sz="2000" dirty="0"/>
              <a:t>The ideal workflows in a vacuum vs in a system may be completely different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1143000"/>
          </a:xfrm>
        </p:spPr>
        <p:txBody>
          <a:bodyPr>
            <a:normAutofit/>
          </a:bodyPr>
          <a:lstStyle/>
          <a:p>
            <a:r>
              <a:rPr lang="en-US" dirty="0"/>
              <a:t>Some frameworks start with intent </a:t>
            </a:r>
            <a:r>
              <a:rPr lang="en-US" sz="2400" dirty="0"/>
              <a:t>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6207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838200"/>
          </a:xfrm>
        </p:spPr>
        <p:txBody>
          <a:bodyPr>
            <a:normAutofit/>
          </a:bodyPr>
          <a:lstStyle/>
          <a:p>
            <a:r>
              <a:rPr lang="en-US" dirty="0"/>
              <a:t>Broadly speaking…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F1AAD92-49E9-5153-9E4F-75EF06F7A7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600200"/>
            <a:ext cx="8081320" cy="5029200"/>
          </a:xfrm>
        </p:spPr>
        <p:txBody>
          <a:bodyPr/>
          <a:lstStyle/>
          <a:p>
            <a:r>
              <a:rPr lang="en-US" dirty="0"/>
              <a:t>Whether </a:t>
            </a:r>
            <a:r>
              <a:rPr lang="en-US" sz="2800" dirty="0"/>
              <a:t>intended or not, errors and violations are often the result of suboptimal design</a:t>
            </a:r>
          </a:p>
          <a:p>
            <a:endParaRPr lang="en-US" sz="2800" dirty="0"/>
          </a:p>
          <a:p>
            <a:r>
              <a:rPr lang="en-US" sz="2800" dirty="0"/>
              <a:t>We can’t design a better human, so why focus on intention?</a:t>
            </a:r>
          </a:p>
          <a:p>
            <a:endParaRPr lang="en-US" dirty="0"/>
          </a:p>
          <a:p>
            <a:r>
              <a:rPr lang="en-US" sz="2800" dirty="0"/>
              <a:t>We may be better off focusing on how people already function and design our systems around that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23802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This model serves as a hybrid between intention and goal-based frameworks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15D5D-93EE-966D-8823-7AB6C7729DD5}"/>
              </a:ext>
            </a:extLst>
          </p:cNvPr>
          <p:cNvSpPr txBox="1"/>
          <p:nvPr/>
        </p:nvSpPr>
        <p:spPr>
          <a:xfrm>
            <a:off x="228600" y="6576469"/>
            <a:ext cx="5000726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Diagram adapted from: https://</a:t>
            </a:r>
            <a:r>
              <a:rPr kumimoji="0" lang="en-US" sz="1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www.dpadvantage.co.uk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/2019/06/12/human-data-errors/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250B51-B7BF-95E1-EDC8-CAD89BC7E48A}"/>
              </a:ext>
            </a:extLst>
          </p:cNvPr>
          <p:cNvSpPr/>
          <p:nvPr/>
        </p:nvSpPr>
        <p:spPr>
          <a:xfrm>
            <a:off x="790648" y="2467081"/>
            <a:ext cx="5172126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344B70-150D-E94F-89DA-157345F58FCD}"/>
              </a:ext>
            </a:extLst>
          </p:cNvPr>
          <p:cNvSpPr/>
          <p:nvPr/>
        </p:nvSpPr>
        <p:spPr>
          <a:xfrm>
            <a:off x="4159203" y="3772848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2BF239-7245-9381-ABC8-1A0597719CBC}"/>
              </a:ext>
            </a:extLst>
          </p:cNvPr>
          <p:cNvSpPr/>
          <p:nvPr/>
        </p:nvSpPr>
        <p:spPr>
          <a:xfrm>
            <a:off x="931043" y="3760271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08362C1-1700-E6BB-BC8D-8647A12FDC5D}"/>
              </a:ext>
            </a:extLst>
          </p:cNvPr>
          <p:cNvSpPr/>
          <p:nvPr/>
        </p:nvSpPr>
        <p:spPr>
          <a:xfrm>
            <a:off x="118370" y="5237520"/>
            <a:ext cx="1490551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379958-453B-BDB2-A8C5-97D0E44928BA}"/>
              </a:ext>
            </a:extLst>
          </p:cNvPr>
          <p:cNvSpPr/>
          <p:nvPr/>
        </p:nvSpPr>
        <p:spPr>
          <a:xfrm>
            <a:off x="1728329" y="5237520"/>
            <a:ext cx="1524001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AE146F-2F6F-455E-364E-C98BC0DCF001}"/>
              </a:ext>
            </a:extLst>
          </p:cNvPr>
          <p:cNvSpPr/>
          <p:nvPr/>
        </p:nvSpPr>
        <p:spPr>
          <a:xfrm>
            <a:off x="5029856" y="5259929"/>
            <a:ext cx="1524002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448E5F-58FF-5E04-7E56-191E40B8A69E}"/>
              </a:ext>
            </a:extLst>
          </p:cNvPr>
          <p:cNvSpPr/>
          <p:nvPr/>
        </p:nvSpPr>
        <p:spPr>
          <a:xfrm>
            <a:off x="7020620" y="5279058"/>
            <a:ext cx="1524002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6822C33-9591-4740-BF5D-7774DA0DF41E}"/>
              </a:ext>
            </a:extLst>
          </p:cNvPr>
          <p:cNvSpPr/>
          <p:nvPr/>
        </p:nvSpPr>
        <p:spPr>
          <a:xfrm>
            <a:off x="4982665" y="1241269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7C90024-29C4-6632-83EC-A818F48B4866}"/>
              </a:ext>
            </a:extLst>
          </p:cNvPr>
          <p:cNvSpPr/>
          <p:nvPr/>
        </p:nvSpPr>
        <p:spPr>
          <a:xfrm>
            <a:off x="6757645" y="2463259"/>
            <a:ext cx="2058447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9AA6D9-950F-A396-6C00-2AC79EA7511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693043" y="3280072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09128B-C493-2F35-94C5-28EAF8D351FB}"/>
              </a:ext>
            </a:extLst>
          </p:cNvPr>
          <p:cNvCxnSpPr>
            <a:cxnSpLocks/>
          </p:cNvCxnSpPr>
          <p:nvPr/>
        </p:nvCxnSpPr>
        <p:spPr>
          <a:xfrm>
            <a:off x="4916556" y="3288467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82140B-8015-2482-F3F3-404EFAE597FB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7782621" y="3301459"/>
            <a:ext cx="4248" cy="19775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A9A6FB-8A14-601E-795A-0466EE8F76A5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flipH="1">
            <a:off x="3376711" y="2079469"/>
            <a:ext cx="2367954" cy="387612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9B5987-F0BA-AEF5-5910-7711199E9A67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5744665" y="2079469"/>
            <a:ext cx="2042204" cy="38379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9C8039-66B3-7D56-B8C7-A655D07ED18E}"/>
              </a:ext>
            </a:extLst>
          </p:cNvPr>
          <p:cNvSpPr txBox="1"/>
          <p:nvPr/>
        </p:nvSpPr>
        <p:spPr>
          <a:xfrm>
            <a:off x="5326603" y="1336731"/>
            <a:ext cx="83612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Human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Failure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B8A74F-E463-803D-0E61-164640AFE91E}"/>
              </a:ext>
            </a:extLst>
          </p:cNvPr>
          <p:cNvSpPr txBox="1"/>
          <p:nvPr/>
        </p:nvSpPr>
        <p:spPr>
          <a:xfrm>
            <a:off x="7256302" y="2704226"/>
            <a:ext cx="102528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</a:rPr>
              <a:t>Deliberate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869501-FD07-B016-0D99-F1F96C841C14}"/>
              </a:ext>
            </a:extLst>
          </p:cNvPr>
          <p:cNvSpPr txBox="1"/>
          <p:nvPr/>
        </p:nvSpPr>
        <p:spPr>
          <a:xfrm>
            <a:off x="2822656" y="2677011"/>
            <a:ext cx="1286569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Unintentional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5FCC1D-FBC5-8C04-7C89-2B05F09CED98}"/>
              </a:ext>
            </a:extLst>
          </p:cNvPr>
          <p:cNvSpPr txBox="1"/>
          <p:nvPr/>
        </p:nvSpPr>
        <p:spPr>
          <a:xfrm>
            <a:off x="4351017" y="3872702"/>
            <a:ext cx="1131077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Cognition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Error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D7B4DB-0CED-30A1-0648-1BFB83362E6D}"/>
              </a:ext>
            </a:extLst>
          </p:cNvPr>
          <p:cNvSpPr txBox="1"/>
          <p:nvPr/>
        </p:nvSpPr>
        <p:spPr>
          <a:xfrm>
            <a:off x="1108268" y="3853077"/>
            <a:ext cx="116954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Execution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Error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82681-0844-F488-66CF-D412D3048D24}"/>
              </a:ext>
            </a:extLst>
          </p:cNvPr>
          <p:cNvSpPr txBox="1"/>
          <p:nvPr/>
        </p:nvSpPr>
        <p:spPr>
          <a:xfrm>
            <a:off x="118370" y="5652466"/>
            <a:ext cx="1490550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Slip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</a:rPr>
              <a:t>(attention)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C00069-CB6D-C706-B6F9-B2A8F89F6BF5}"/>
              </a:ext>
            </a:extLst>
          </p:cNvPr>
          <p:cNvSpPr txBox="1"/>
          <p:nvPr/>
        </p:nvSpPr>
        <p:spPr>
          <a:xfrm>
            <a:off x="1693042" y="5655133"/>
            <a:ext cx="149055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Lapse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(memory)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A73943-D58E-99A8-B519-4E6D3E9E565B}"/>
              </a:ext>
            </a:extLst>
          </p:cNvPr>
          <p:cNvSpPr txBox="1"/>
          <p:nvPr/>
        </p:nvSpPr>
        <p:spPr>
          <a:xfrm>
            <a:off x="5070095" y="5588949"/>
            <a:ext cx="143292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Knowledge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based mistake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EDFC68-ED98-18FD-0A88-576AFFB48E1E}"/>
              </a:ext>
            </a:extLst>
          </p:cNvPr>
          <p:cNvSpPr txBox="1"/>
          <p:nvPr/>
        </p:nvSpPr>
        <p:spPr>
          <a:xfrm>
            <a:off x="7043391" y="5466377"/>
            <a:ext cx="1478460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Deliberate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deviations from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the process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1164EDA-A88E-CA08-426A-BE58A8E2A457}"/>
              </a:ext>
            </a:extLst>
          </p:cNvPr>
          <p:cNvSpPr/>
          <p:nvPr/>
        </p:nvSpPr>
        <p:spPr>
          <a:xfrm>
            <a:off x="3397202" y="5259929"/>
            <a:ext cx="1524001" cy="11430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6CB7F66-71AD-A5E8-3317-8CA728A23FB0}"/>
              </a:ext>
            </a:extLst>
          </p:cNvPr>
          <p:cNvCxnSpPr>
            <a:cxnSpLocks/>
          </p:cNvCxnSpPr>
          <p:nvPr/>
        </p:nvCxnSpPr>
        <p:spPr>
          <a:xfrm>
            <a:off x="2133600" y="4598471"/>
            <a:ext cx="0" cy="654127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E373E6-F635-D343-C2FC-18E250FDDFB0}"/>
              </a:ext>
            </a:extLst>
          </p:cNvPr>
          <p:cNvCxnSpPr>
            <a:cxnSpLocks/>
          </p:cNvCxnSpPr>
          <p:nvPr/>
        </p:nvCxnSpPr>
        <p:spPr>
          <a:xfrm>
            <a:off x="1219200" y="4563137"/>
            <a:ext cx="0" cy="6894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4BEE912-1234-52F7-140C-C0E01A6418E7}"/>
              </a:ext>
            </a:extLst>
          </p:cNvPr>
          <p:cNvSpPr txBox="1"/>
          <p:nvPr/>
        </p:nvSpPr>
        <p:spPr>
          <a:xfrm>
            <a:off x="3465940" y="5547411"/>
            <a:ext cx="143292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Rule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based mistake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9C38953-636C-A29E-2DC7-1D9194220151}"/>
              </a:ext>
            </a:extLst>
          </p:cNvPr>
          <p:cNvCxnSpPr>
            <a:cxnSpLocks/>
          </p:cNvCxnSpPr>
          <p:nvPr/>
        </p:nvCxnSpPr>
        <p:spPr>
          <a:xfrm>
            <a:off x="5366902" y="4598470"/>
            <a:ext cx="0" cy="654127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2DAB997-9F0E-8DF6-4534-62EEB168EBC7}"/>
              </a:ext>
            </a:extLst>
          </p:cNvPr>
          <p:cNvCxnSpPr>
            <a:cxnSpLocks/>
          </p:cNvCxnSpPr>
          <p:nvPr/>
        </p:nvCxnSpPr>
        <p:spPr>
          <a:xfrm>
            <a:off x="4560688" y="4611047"/>
            <a:ext cx="0" cy="648881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9934184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8081320" cy="5486400"/>
          </a:xfrm>
        </p:spPr>
        <p:txBody>
          <a:bodyPr/>
          <a:lstStyle/>
          <a:p>
            <a:pPr marL="117475" indent="0">
              <a:buNone/>
            </a:pPr>
            <a:endParaRPr lang="en-US" sz="2400" dirty="0"/>
          </a:p>
          <a:p>
            <a:r>
              <a:rPr lang="en-US" sz="2400" dirty="0"/>
              <a:t>Planning/Thinking errors</a:t>
            </a:r>
            <a:endParaRPr lang="en-US" sz="2400" baseline="-25000" dirty="0"/>
          </a:p>
          <a:p>
            <a:pPr lvl="1"/>
            <a:r>
              <a:rPr lang="en-US" sz="2000" dirty="0"/>
              <a:t>Typically unintentional</a:t>
            </a:r>
          </a:p>
          <a:p>
            <a:pPr lvl="1"/>
            <a:r>
              <a:rPr lang="en-US" sz="2000" dirty="0"/>
              <a:t>Users misunderstood the higher-level concept or the context in which they were working </a:t>
            </a:r>
          </a:p>
          <a:p>
            <a:pPr lvl="1"/>
            <a:r>
              <a:rPr lang="en-US" sz="2000" dirty="0"/>
              <a:t>Assumes error is often unnoticed unless consequences arise</a:t>
            </a:r>
          </a:p>
          <a:p>
            <a:pPr lvl="1"/>
            <a:endParaRPr lang="en-US" sz="2000" dirty="0"/>
          </a:p>
          <a:p>
            <a:r>
              <a:rPr lang="en-US" sz="2400" dirty="0"/>
              <a:t>Execution errors</a:t>
            </a:r>
          </a:p>
          <a:p>
            <a:pPr lvl="1"/>
            <a:r>
              <a:rPr lang="en-US" sz="2000" dirty="0"/>
              <a:t>Typically unintentional </a:t>
            </a:r>
          </a:p>
          <a:p>
            <a:pPr lvl="1"/>
            <a:r>
              <a:rPr lang="en-US" sz="2000" dirty="0"/>
              <a:t>Often noticed or noticeable</a:t>
            </a:r>
          </a:p>
          <a:p>
            <a:pPr lvl="1"/>
            <a:r>
              <a:rPr lang="en-US" sz="2000" dirty="0"/>
              <a:t>Typically assumes the individual knew (or should have known) the right thing to do, but did not manage to do it. 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 flavors attempt to reframe intention and goal-aligned vs goal-opposed </a:t>
            </a:r>
          </a:p>
        </p:txBody>
      </p:sp>
    </p:spTree>
    <p:extLst>
      <p:ext uri="{BB962C8B-B14F-4D97-AF65-F5344CB8AC3E}">
        <p14:creationId xmlns:p14="http://schemas.microsoft.com/office/powerpoint/2010/main" val="36024070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Still other frameworks start to split out top-down and bottom-up or two-way use issues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48108B-B5AF-6511-CEA3-FBB0AE1D69EC}"/>
              </a:ext>
            </a:extLst>
          </p:cNvPr>
          <p:cNvSpPr/>
          <p:nvPr/>
        </p:nvSpPr>
        <p:spPr>
          <a:xfrm>
            <a:off x="862418" y="1525859"/>
            <a:ext cx="28956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2FD1A3-14F8-B642-30E9-E002F6564EE2}"/>
              </a:ext>
            </a:extLst>
          </p:cNvPr>
          <p:cNvSpPr/>
          <p:nvPr/>
        </p:nvSpPr>
        <p:spPr>
          <a:xfrm>
            <a:off x="6910968" y="2840540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4EC91E-1320-01DF-832D-47EE1998EE4A}"/>
              </a:ext>
            </a:extLst>
          </p:cNvPr>
          <p:cNvSpPr/>
          <p:nvPr/>
        </p:nvSpPr>
        <p:spPr>
          <a:xfrm>
            <a:off x="4876800" y="2840540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D38783-21CE-872A-3844-A773A5DFAB20}"/>
              </a:ext>
            </a:extLst>
          </p:cNvPr>
          <p:cNvSpPr/>
          <p:nvPr/>
        </p:nvSpPr>
        <p:spPr>
          <a:xfrm>
            <a:off x="2567568" y="2844722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78B4547-E248-065B-9F04-D4D37389DC0C}"/>
              </a:ext>
            </a:extLst>
          </p:cNvPr>
          <p:cNvSpPr/>
          <p:nvPr/>
        </p:nvSpPr>
        <p:spPr>
          <a:xfrm>
            <a:off x="525964" y="2842399"/>
            <a:ext cx="15240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5E306F-204F-392F-19FB-FD7FB841FE76}"/>
              </a:ext>
            </a:extLst>
          </p:cNvPr>
          <p:cNvSpPr/>
          <p:nvPr/>
        </p:nvSpPr>
        <p:spPr>
          <a:xfrm>
            <a:off x="320596" y="4320400"/>
            <a:ext cx="1934737" cy="220813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00D983F-4C5C-5D3E-6014-4396F8EA3C48}"/>
              </a:ext>
            </a:extLst>
          </p:cNvPr>
          <p:cNvSpPr/>
          <p:nvPr/>
        </p:nvSpPr>
        <p:spPr>
          <a:xfrm>
            <a:off x="2362200" y="4320400"/>
            <a:ext cx="1934737" cy="220813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C0337F-6F9A-E667-F641-B0FD6ABBA6EB}"/>
              </a:ext>
            </a:extLst>
          </p:cNvPr>
          <p:cNvSpPr/>
          <p:nvPr/>
        </p:nvSpPr>
        <p:spPr>
          <a:xfrm>
            <a:off x="4671431" y="4320400"/>
            <a:ext cx="1934737" cy="220813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FA045C-140B-C92A-C1C8-7BCE806A39EF}"/>
              </a:ext>
            </a:extLst>
          </p:cNvPr>
          <p:cNvSpPr/>
          <p:nvPr/>
        </p:nvSpPr>
        <p:spPr>
          <a:xfrm>
            <a:off x="6705600" y="4320400"/>
            <a:ext cx="1934737" cy="220813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B112910-E005-9CD8-31DE-145D0EFF9F29}"/>
              </a:ext>
            </a:extLst>
          </p:cNvPr>
          <p:cNvSpPr/>
          <p:nvPr/>
        </p:nvSpPr>
        <p:spPr>
          <a:xfrm>
            <a:off x="5158430" y="1524000"/>
            <a:ext cx="2895600" cy="8382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BDCDEF-41DA-111C-F430-CBED86661D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287964" y="2362200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97748-1D8B-30D5-69A7-A661FF7DDB25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287964" y="3678740"/>
            <a:ext cx="1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F563E0-64C5-038E-6C22-C6BE6D32931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324921" y="3678740"/>
            <a:ext cx="4648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4B25D3-0634-7CBA-CEDC-CFE1DED047B1}"/>
              </a:ext>
            </a:extLst>
          </p:cNvPr>
          <p:cNvCxnSpPr>
            <a:cxnSpLocks/>
          </p:cNvCxnSpPr>
          <p:nvPr/>
        </p:nvCxnSpPr>
        <p:spPr>
          <a:xfrm>
            <a:off x="3324921" y="2360341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9AEFE2-0843-29F8-7C3C-0D4BC2E16345}"/>
              </a:ext>
            </a:extLst>
          </p:cNvPr>
          <p:cNvCxnSpPr>
            <a:cxnSpLocks/>
          </p:cNvCxnSpPr>
          <p:nvPr/>
        </p:nvCxnSpPr>
        <p:spPr>
          <a:xfrm>
            <a:off x="5638800" y="2360341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DAC59D5-2AA3-D85A-E111-6C4FF38DB0BE}"/>
              </a:ext>
            </a:extLst>
          </p:cNvPr>
          <p:cNvCxnSpPr>
            <a:cxnSpLocks/>
          </p:cNvCxnSpPr>
          <p:nvPr/>
        </p:nvCxnSpPr>
        <p:spPr>
          <a:xfrm>
            <a:off x="7672968" y="2360341"/>
            <a:ext cx="0" cy="480199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BD2E48-DC8D-B5EC-6479-5F9613A1E920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7672968" y="3678740"/>
            <a:ext cx="1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6DA288-724C-8D34-3D66-8E265E097067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5638800" y="3678740"/>
            <a:ext cx="0" cy="641660"/>
          </a:xfrm>
          <a:prstGeom prst="line">
            <a:avLst/>
          </a:prstGeom>
          <a:noFill/>
          <a:ln w="9525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4B0-FB59-386F-8B07-C4AD0E6EB1AE}"/>
              </a:ext>
            </a:extLst>
          </p:cNvPr>
          <p:cNvSpPr txBox="1"/>
          <p:nvPr/>
        </p:nvSpPr>
        <p:spPr>
          <a:xfrm>
            <a:off x="5803392" y="1758435"/>
            <a:ext cx="1605567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</a:rPr>
              <a:t>Planning failures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99AC29-7D4A-C8E6-7A11-AEE37835229F}"/>
              </a:ext>
            </a:extLst>
          </p:cNvPr>
          <p:cNvSpPr txBox="1"/>
          <p:nvPr/>
        </p:nvSpPr>
        <p:spPr>
          <a:xfrm>
            <a:off x="1400459" y="1758435"/>
            <a:ext cx="1709761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Execution failures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FFAC3A-1765-0509-15CE-D0C5219AA4BD}"/>
              </a:ext>
            </a:extLst>
          </p:cNvPr>
          <p:cNvSpPr txBox="1"/>
          <p:nvPr/>
        </p:nvSpPr>
        <p:spPr>
          <a:xfrm>
            <a:off x="7024073" y="2931326"/>
            <a:ext cx="129778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Knowledge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-based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1B8111-610D-0703-F092-8F2FF9BE60F6}"/>
              </a:ext>
            </a:extLst>
          </p:cNvPr>
          <p:cNvSpPr txBox="1"/>
          <p:nvPr/>
        </p:nvSpPr>
        <p:spPr>
          <a:xfrm>
            <a:off x="5002730" y="3081480"/>
            <a:ext cx="127214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Rule-based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DF41BD-B31E-6765-2D82-8BED4E5C7E00}"/>
              </a:ext>
            </a:extLst>
          </p:cNvPr>
          <p:cNvSpPr txBox="1"/>
          <p:nvPr/>
        </p:nvSpPr>
        <p:spPr>
          <a:xfrm>
            <a:off x="2964569" y="3077066"/>
            <a:ext cx="72070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Lapse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15E79A-50CB-1F65-C8F5-D219BC90DAB7}"/>
              </a:ext>
            </a:extLst>
          </p:cNvPr>
          <p:cNvSpPr txBox="1"/>
          <p:nvPr/>
        </p:nvSpPr>
        <p:spPr>
          <a:xfrm>
            <a:off x="991731" y="3081480"/>
            <a:ext cx="59246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Slips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87F11E-D8FA-8012-F457-FDADEE4B6860}"/>
              </a:ext>
            </a:extLst>
          </p:cNvPr>
          <p:cNvSpPr txBox="1"/>
          <p:nvPr/>
        </p:nvSpPr>
        <p:spPr>
          <a:xfrm>
            <a:off x="542689" y="4511848"/>
            <a:ext cx="1490550" cy="1846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Attention: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000000"/>
              </a:solidFill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Reversal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- Misordering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Mistiming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Interference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Double capture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Misperception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9CB6E-70C9-C362-46F0-26748FD0582B}"/>
              </a:ext>
            </a:extLst>
          </p:cNvPr>
          <p:cNvSpPr txBox="1"/>
          <p:nvPr/>
        </p:nvSpPr>
        <p:spPr>
          <a:xfrm>
            <a:off x="2601018" y="4518104"/>
            <a:ext cx="1490550" cy="1415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Memory: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000000"/>
              </a:solidFill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Omission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- Repetitions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Reduced intenti-onality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F8ED2A-D614-4C99-8691-21A53E71E32A}"/>
              </a:ext>
            </a:extLst>
          </p:cNvPr>
          <p:cNvSpPr txBox="1"/>
          <p:nvPr/>
        </p:nvSpPr>
        <p:spPr>
          <a:xfrm>
            <a:off x="4823938" y="4511848"/>
            <a:ext cx="1629721" cy="1815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solidFill>
                  <a:srgbClr val="000000"/>
                </a:solidFill>
              </a:rPr>
              <a:t>Rule application: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Applied good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rule to wrong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context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Applied bad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rule</a:t>
            </a:r>
            <a:endParaRPr kumimoji="0" lang="en-US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D0FCFC-D794-911F-51B6-E675129B3409}"/>
              </a:ext>
            </a:extLst>
          </p:cNvPr>
          <p:cNvSpPr txBox="1"/>
          <p:nvPr/>
        </p:nvSpPr>
        <p:spPr>
          <a:xfrm>
            <a:off x="6872636" y="4511848"/>
            <a:ext cx="1600662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Cognitive biases: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000000"/>
              </a:solidFill>
            </a:endParaRP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- Confirmation bias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Anchoring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- Selectivity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</a:rPr>
              <a:t>- Vagabonding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- Encystment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11F58A-815E-89A5-C499-0BAB2C54E91D}"/>
              </a:ext>
            </a:extLst>
          </p:cNvPr>
          <p:cNvSpPr txBox="1"/>
          <p:nvPr/>
        </p:nvSpPr>
        <p:spPr>
          <a:xfrm>
            <a:off x="0" y="6636182"/>
            <a:ext cx="4672111" cy="25391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Diagram adapted from: https://</a:t>
            </a:r>
            <a:r>
              <a:rPr kumimoji="0" lang="en-US" sz="105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www.skybrary.aero</a:t>
            </a: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/articles/human-error-types</a:t>
            </a:r>
          </a:p>
        </p:txBody>
      </p:sp>
    </p:spTree>
    <p:extLst>
      <p:ext uri="{BB962C8B-B14F-4D97-AF65-F5344CB8AC3E}">
        <p14:creationId xmlns:p14="http://schemas.microsoft.com/office/powerpoint/2010/main" val="22691967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Focuses on the full range of the human side of Human-system interface</a:t>
            </a:r>
          </a:p>
          <a:p>
            <a:endParaRPr lang="en-US" dirty="0"/>
          </a:p>
          <a:p>
            <a:r>
              <a:rPr lang="en-US" dirty="0"/>
              <a:t>Does not inherently account for intent</a:t>
            </a:r>
          </a:p>
          <a:p>
            <a:pPr lvl="1"/>
            <a:endParaRPr lang="en-US" dirty="0"/>
          </a:p>
          <a:p>
            <a:r>
              <a:rPr lang="en-US" dirty="0"/>
              <a:t>Helps development teams and designers understand where to focus fixes to reduce risk of harm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A common framework in Usability/UX/HFE is the Perception-Cognition-Action model</a:t>
            </a:r>
          </a:p>
        </p:txBody>
      </p:sp>
    </p:spTree>
    <p:extLst>
      <p:ext uri="{BB962C8B-B14F-4D97-AF65-F5344CB8AC3E}">
        <p14:creationId xmlns:p14="http://schemas.microsoft.com/office/powerpoint/2010/main" val="50088012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9CA840-2A78-1015-D71D-A3C0753844E8}"/>
              </a:ext>
            </a:extLst>
          </p:cNvPr>
          <p:cNvCxnSpPr>
            <a:cxnSpLocks/>
          </p:cNvCxnSpPr>
          <p:nvPr/>
        </p:nvCxnSpPr>
        <p:spPr>
          <a:xfrm>
            <a:off x="7996172" y="3558762"/>
            <a:ext cx="1058" cy="1690673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DAD2F1E-75F0-8F6C-E457-B2A31DE4BC2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188534" y="3564338"/>
            <a:ext cx="0" cy="2423066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E1EBB4-D6B6-2E31-5B29-F8F5D0D89684}"/>
              </a:ext>
            </a:extLst>
          </p:cNvPr>
          <p:cNvCxnSpPr>
            <a:stCxn id="13" idx="2"/>
            <a:endCxn id="41" idx="0"/>
          </p:cNvCxnSpPr>
          <p:nvPr/>
        </p:nvCxnSpPr>
        <p:spPr>
          <a:xfrm flipH="1">
            <a:off x="3050204" y="3564338"/>
            <a:ext cx="856" cy="890122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4539CD-3809-6189-E475-272032F6B79A}"/>
              </a:ext>
            </a:extLst>
          </p:cNvPr>
          <p:cNvCxnSpPr/>
          <p:nvPr/>
        </p:nvCxnSpPr>
        <p:spPr>
          <a:xfrm flipH="1">
            <a:off x="4580041" y="3557069"/>
            <a:ext cx="856" cy="890122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E1E1C37-2E18-5DE8-B56F-08C6E692DD9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098002" y="3553432"/>
            <a:ext cx="1058" cy="1690673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Semi-detailed PCA model </a:t>
            </a:r>
            <a:r>
              <a:rPr lang="en-US" sz="2000" dirty="0"/>
              <a:t>(manufacturing example)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2D7667-DC53-D8BA-D6DE-CEBFB137F406}"/>
              </a:ext>
            </a:extLst>
          </p:cNvPr>
          <p:cNvSpPr/>
          <p:nvPr/>
        </p:nvSpPr>
        <p:spPr>
          <a:xfrm>
            <a:off x="3356114" y="1066800"/>
            <a:ext cx="2438400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8D43EF-BC45-63EB-1DE7-93F67C31A46F}"/>
              </a:ext>
            </a:extLst>
          </p:cNvPr>
          <p:cNvSpPr/>
          <p:nvPr/>
        </p:nvSpPr>
        <p:spPr>
          <a:xfrm>
            <a:off x="304800" y="1981200"/>
            <a:ext cx="1981200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7E550C-3355-94DF-67E7-76BBD7E23E33}"/>
              </a:ext>
            </a:extLst>
          </p:cNvPr>
          <p:cNvSpPr/>
          <p:nvPr/>
        </p:nvSpPr>
        <p:spPr>
          <a:xfrm>
            <a:off x="6858000" y="1981200"/>
            <a:ext cx="1981200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D8331A-3FAB-4079-6B15-EE840DBF5032}"/>
              </a:ext>
            </a:extLst>
          </p:cNvPr>
          <p:cNvSpPr/>
          <p:nvPr/>
        </p:nvSpPr>
        <p:spPr>
          <a:xfrm>
            <a:off x="3581400" y="1990991"/>
            <a:ext cx="1981200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051021-2209-D49D-C5E6-7A3E6F3A15D0}"/>
              </a:ext>
            </a:extLst>
          </p:cNvPr>
          <p:cNvSpPr/>
          <p:nvPr/>
        </p:nvSpPr>
        <p:spPr>
          <a:xfrm>
            <a:off x="453080" y="287853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A6809D-B2A0-6411-4CB3-9CF898A68FAC}"/>
              </a:ext>
            </a:extLst>
          </p:cNvPr>
          <p:cNvSpPr/>
          <p:nvPr/>
        </p:nvSpPr>
        <p:spPr>
          <a:xfrm>
            <a:off x="453080" y="3668183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C6BACC-3EB3-6066-7ADA-65699FAE74EF}"/>
              </a:ext>
            </a:extLst>
          </p:cNvPr>
          <p:cNvSpPr/>
          <p:nvPr/>
        </p:nvSpPr>
        <p:spPr>
          <a:xfrm>
            <a:off x="453080" y="445782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04D341-5020-CB26-61E1-3A91C146C77D}"/>
              </a:ext>
            </a:extLst>
          </p:cNvPr>
          <p:cNvSpPr/>
          <p:nvPr/>
        </p:nvSpPr>
        <p:spPr>
          <a:xfrm>
            <a:off x="442455" y="5222616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335C19D-3D97-49D2-1616-EFFF42CC51DB}"/>
              </a:ext>
            </a:extLst>
          </p:cNvPr>
          <p:cNvSpPr/>
          <p:nvPr/>
        </p:nvSpPr>
        <p:spPr>
          <a:xfrm>
            <a:off x="453080" y="6019800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1BF17B-847E-D366-A99A-322BF2CD8471}"/>
              </a:ext>
            </a:extLst>
          </p:cNvPr>
          <p:cNvSpPr/>
          <p:nvPr/>
        </p:nvSpPr>
        <p:spPr>
          <a:xfrm>
            <a:off x="2315606" y="287853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F0FAEB-5521-3F7C-0063-258E8462E85C}"/>
              </a:ext>
            </a:extLst>
          </p:cNvPr>
          <p:cNvSpPr/>
          <p:nvPr/>
        </p:nvSpPr>
        <p:spPr>
          <a:xfrm>
            <a:off x="2315606" y="3668183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D3E0336-0771-A262-3736-CD375C5EFDEB}"/>
              </a:ext>
            </a:extLst>
          </p:cNvPr>
          <p:cNvSpPr/>
          <p:nvPr/>
        </p:nvSpPr>
        <p:spPr>
          <a:xfrm>
            <a:off x="3839608" y="287853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2C6484-76EA-31D6-016E-BCE4D27DA2D8}"/>
              </a:ext>
            </a:extLst>
          </p:cNvPr>
          <p:cNvSpPr/>
          <p:nvPr/>
        </p:nvSpPr>
        <p:spPr>
          <a:xfrm>
            <a:off x="3839608" y="3668183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A3868A-7946-4A5E-8BA9-BC05C1BCEF50}"/>
              </a:ext>
            </a:extLst>
          </p:cNvPr>
          <p:cNvSpPr/>
          <p:nvPr/>
        </p:nvSpPr>
        <p:spPr>
          <a:xfrm>
            <a:off x="5363610" y="287853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FB8F99-C24B-B3AB-B189-F5F43CD37903}"/>
              </a:ext>
            </a:extLst>
          </p:cNvPr>
          <p:cNvSpPr/>
          <p:nvPr/>
        </p:nvSpPr>
        <p:spPr>
          <a:xfrm>
            <a:off x="5363610" y="3668183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4165649-D93D-4730-2575-05572AF1AB71}"/>
              </a:ext>
            </a:extLst>
          </p:cNvPr>
          <p:cNvSpPr/>
          <p:nvPr/>
        </p:nvSpPr>
        <p:spPr>
          <a:xfrm>
            <a:off x="7260718" y="287853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5710F07-71A1-25AA-BED7-4D6DE11F5E0F}"/>
              </a:ext>
            </a:extLst>
          </p:cNvPr>
          <p:cNvSpPr/>
          <p:nvPr/>
        </p:nvSpPr>
        <p:spPr>
          <a:xfrm>
            <a:off x="7260718" y="3668183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F911E9-1FFB-D868-548D-BB1426D4CF2C}"/>
              </a:ext>
            </a:extLst>
          </p:cNvPr>
          <p:cNvSpPr/>
          <p:nvPr/>
        </p:nvSpPr>
        <p:spPr>
          <a:xfrm>
            <a:off x="7260718" y="445782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45C10F-493E-32C2-D87B-DFEBF6771DEF}"/>
              </a:ext>
            </a:extLst>
          </p:cNvPr>
          <p:cNvSpPr/>
          <p:nvPr/>
        </p:nvSpPr>
        <p:spPr>
          <a:xfrm>
            <a:off x="7250093" y="5222616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7482079-792B-65DE-EB58-C7005808C638}"/>
              </a:ext>
            </a:extLst>
          </p:cNvPr>
          <p:cNvSpPr/>
          <p:nvPr/>
        </p:nvSpPr>
        <p:spPr>
          <a:xfrm>
            <a:off x="5363610" y="4457828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2B5C8-ED1A-74D6-16F4-E885A7F6443E}"/>
              </a:ext>
            </a:extLst>
          </p:cNvPr>
          <p:cNvSpPr txBox="1"/>
          <p:nvPr/>
        </p:nvSpPr>
        <p:spPr>
          <a:xfrm>
            <a:off x="3899060" y="1234534"/>
            <a:ext cx="134588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Human Error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7BAA8F-27C7-E884-66E9-99FD2B451804}"/>
              </a:ext>
            </a:extLst>
          </p:cNvPr>
          <p:cNvSpPr txBox="1"/>
          <p:nvPr/>
        </p:nvSpPr>
        <p:spPr>
          <a:xfrm>
            <a:off x="759517" y="2157463"/>
            <a:ext cx="107176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Perception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914B9D-D15F-9724-C933-4FA55F1417AD}"/>
              </a:ext>
            </a:extLst>
          </p:cNvPr>
          <p:cNvSpPr txBox="1"/>
          <p:nvPr/>
        </p:nvSpPr>
        <p:spPr>
          <a:xfrm>
            <a:off x="4093826" y="2154824"/>
            <a:ext cx="95635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Cognition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AA9A9-38D2-B117-5E42-7DDFF4B9DA23}"/>
              </a:ext>
            </a:extLst>
          </p:cNvPr>
          <p:cNvSpPr txBox="1"/>
          <p:nvPr/>
        </p:nvSpPr>
        <p:spPr>
          <a:xfrm>
            <a:off x="7517901" y="2168489"/>
            <a:ext cx="661397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Action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0234C6-5CA0-13DF-1A15-DECD58EB2AA1}"/>
              </a:ext>
            </a:extLst>
          </p:cNvPr>
          <p:cNvSpPr txBox="1"/>
          <p:nvPr/>
        </p:nvSpPr>
        <p:spPr>
          <a:xfrm>
            <a:off x="784097" y="3052162"/>
            <a:ext cx="808874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Omissions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D34982-79E7-2606-DEC2-8613C432ABEA}"/>
              </a:ext>
            </a:extLst>
          </p:cNvPr>
          <p:cNvSpPr txBox="1"/>
          <p:nvPr/>
        </p:nvSpPr>
        <p:spPr>
          <a:xfrm>
            <a:off x="519603" y="6191805"/>
            <a:ext cx="133786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Task not assigned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2B2EC2-7FAC-431D-1FA2-51ED1728DD44}"/>
              </a:ext>
            </a:extLst>
          </p:cNvPr>
          <p:cNvSpPr txBox="1"/>
          <p:nvPr/>
        </p:nvSpPr>
        <p:spPr>
          <a:xfrm>
            <a:off x="718169" y="5334684"/>
            <a:ext cx="91948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Wrong point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 time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9133D4-7094-194F-5DAA-F8F604DA797D}"/>
              </a:ext>
            </a:extLst>
          </p:cNvPr>
          <p:cNvSpPr txBox="1"/>
          <p:nvPr/>
        </p:nvSpPr>
        <p:spPr>
          <a:xfrm>
            <a:off x="654053" y="4637372"/>
            <a:ext cx="1047722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Inverted order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D121AA-E34C-791E-13AD-2169D69E0BE2}"/>
              </a:ext>
            </a:extLst>
          </p:cNvPr>
          <p:cNvSpPr txBox="1"/>
          <p:nvPr/>
        </p:nvSpPr>
        <p:spPr>
          <a:xfrm>
            <a:off x="620471" y="3794231"/>
            <a:ext cx="114229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0000"/>
                </a:solidFill>
              </a:rPr>
              <a:t>Wrong amount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0000"/>
                </a:solidFill>
              </a:rPr>
              <a:t>of repetitions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4928FA-E86C-5995-1B67-5F1F7D492C95}"/>
              </a:ext>
            </a:extLst>
          </p:cNvPr>
          <p:cNvSpPr txBox="1"/>
          <p:nvPr/>
        </p:nvSpPr>
        <p:spPr>
          <a:xfrm>
            <a:off x="2602541" y="2981318"/>
            <a:ext cx="89703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Types and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quantities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597736-35E1-BA0E-779E-DDAC8BEE3D59}"/>
              </a:ext>
            </a:extLst>
          </p:cNvPr>
          <p:cNvSpPr txBox="1"/>
          <p:nvPr/>
        </p:nvSpPr>
        <p:spPr>
          <a:xfrm>
            <a:off x="4284780" y="3082945"/>
            <a:ext cx="552393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States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945F0F-0B33-4F19-7701-C67039E19087}"/>
              </a:ext>
            </a:extLst>
          </p:cNvPr>
          <p:cNvSpPr txBox="1"/>
          <p:nvPr/>
        </p:nvSpPr>
        <p:spPr>
          <a:xfrm>
            <a:off x="5799623" y="3082945"/>
            <a:ext cx="598881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Motion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EB3D5C-4EDE-D623-04C7-5E7EBB38EA7A}"/>
              </a:ext>
            </a:extLst>
          </p:cNvPr>
          <p:cNvSpPr txBox="1"/>
          <p:nvPr/>
        </p:nvSpPr>
        <p:spPr>
          <a:xfrm>
            <a:off x="2683438" y="3780251"/>
            <a:ext cx="73353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Incorrect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selection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E2E6E9-5427-78A3-1B4D-1E0F3131F79D}"/>
              </a:ext>
            </a:extLst>
          </p:cNvPr>
          <p:cNvSpPr txBox="1"/>
          <p:nvPr/>
        </p:nvSpPr>
        <p:spPr>
          <a:xfrm>
            <a:off x="4208296" y="3780251"/>
            <a:ext cx="73353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Incorrect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detection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DABD2C-B720-08A0-0D6F-A3D94F31BFB2}"/>
              </a:ext>
            </a:extLst>
          </p:cNvPr>
          <p:cNvSpPr txBox="1"/>
          <p:nvPr/>
        </p:nvSpPr>
        <p:spPr>
          <a:xfrm>
            <a:off x="5732297" y="3801741"/>
            <a:ext cx="73353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Incorrect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holding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2AC9064-DFD7-3AA9-E0E0-C0AC669DF976}"/>
              </a:ext>
            </a:extLst>
          </p:cNvPr>
          <p:cNvSpPr/>
          <p:nvPr/>
        </p:nvSpPr>
        <p:spPr>
          <a:xfrm>
            <a:off x="5363606" y="5244105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82E4103-E644-FAF8-E825-07CB571D674A}"/>
              </a:ext>
            </a:extLst>
          </p:cNvPr>
          <p:cNvSpPr/>
          <p:nvPr/>
        </p:nvSpPr>
        <p:spPr>
          <a:xfrm>
            <a:off x="3844587" y="4466051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DDA5B13-D4EF-DA78-C4EF-D1ED55D43832}"/>
              </a:ext>
            </a:extLst>
          </p:cNvPr>
          <p:cNvSpPr/>
          <p:nvPr/>
        </p:nvSpPr>
        <p:spPr>
          <a:xfrm>
            <a:off x="2314750" y="4454460"/>
            <a:ext cx="1470908" cy="68580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6EA0B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D30A76-839D-BA8A-2199-2AECBDFC266A}"/>
              </a:ext>
            </a:extLst>
          </p:cNvPr>
          <p:cNvSpPr txBox="1"/>
          <p:nvPr/>
        </p:nvSpPr>
        <p:spPr>
          <a:xfrm>
            <a:off x="5669239" y="4549860"/>
            <a:ext cx="93711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0000"/>
                </a:solidFill>
              </a:rPr>
              <a:t>Incorrection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0000"/>
                </a:solidFill>
              </a:rPr>
              <a:t>positioning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AA8E57-3BE0-5EFE-F9F7-39A2E81AC142}"/>
              </a:ext>
            </a:extLst>
          </p:cNvPr>
          <p:cNvSpPr txBox="1"/>
          <p:nvPr/>
        </p:nvSpPr>
        <p:spPr>
          <a:xfrm>
            <a:off x="5755000" y="5356173"/>
            <a:ext cx="76559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0000"/>
                </a:solidFill>
              </a:rPr>
              <a:t>Execution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direction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19649B-0E7C-1819-AE2A-7AE0E0DB889C}"/>
              </a:ext>
            </a:extLst>
          </p:cNvPr>
          <p:cNvSpPr txBox="1"/>
          <p:nvPr/>
        </p:nvSpPr>
        <p:spPr>
          <a:xfrm>
            <a:off x="2681845" y="4549860"/>
            <a:ext cx="73353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Incorrect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count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DF3636-4AD8-8EB1-A255-921E1538B5B9}"/>
              </a:ext>
            </a:extLst>
          </p:cNvPr>
          <p:cNvSpPr txBox="1"/>
          <p:nvPr/>
        </p:nvSpPr>
        <p:spPr>
          <a:xfrm>
            <a:off x="4114094" y="4549860"/>
            <a:ext cx="92108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Error in risk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perception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C0D478-FD6D-AF12-F4AE-03EAD9162A80}"/>
              </a:ext>
            </a:extLst>
          </p:cNvPr>
          <p:cNvSpPr txBox="1"/>
          <p:nvPr/>
        </p:nvSpPr>
        <p:spPr>
          <a:xfrm>
            <a:off x="7683705" y="3008353"/>
            <a:ext cx="60368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Wrong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amount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584F11-F8A9-A087-3E07-38E9976E1B94}"/>
              </a:ext>
            </a:extLst>
          </p:cNvPr>
          <p:cNvSpPr txBox="1"/>
          <p:nvPr/>
        </p:nvSpPr>
        <p:spPr>
          <a:xfrm>
            <a:off x="7644858" y="3774674"/>
            <a:ext cx="6966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Unstable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fixation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1BA660-5971-CA7E-6014-CEEC14410B0E}"/>
              </a:ext>
            </a:extLst>
          </p:cNvPr>
          <p:cNvSpPr txBox="1"/>
          <p:nvPr/>
        </p:nvSpPr>
        <p:spPr>
          <a:xfrm>
            <a:off x="7580001" y="4564320"/>
            <a:ext cx="84253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Incorrect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adjustment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43664E-8667-6A72-DA41-816007979471}"/>
              </a:ext>
            </a:extLst>
          </p:cNvPr>
          <p:cNvSpPr txBox="1"/>
          <p:nvPr/>
        </p:nvSpPr>
        <p:spPr>
          <a:xfrm>
            <a:off x="7572300" y="5329107"/>
            <a:ext cx="82650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Insufficient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0000"/>
                </a:solidFill>
              </a:rPr>
              <a:t>prevention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966190A-9DC0-9A14-B1ED-813DE941B97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295400" y="1752600"/>
            <a:ext cx="3279388" cy="228600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EC0736-9EC5-D5E0-D75B-5B0E3BC86AE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575314" y="1752600"/>
            <a:ext cx="3273286" cy="228600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AEC81B8-374D-10BB-2241-6B531582D6B8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4572000" y="1752600"/>
            <a:ext cx="3314" cy="238391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DE61DC0-C25C-CA96-11EE-BCC010A26CE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188534" y="2667000"/>
            <a:ext cx="106866" cy="211538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E632FA0-81B3-AF82-314D-888A7DF69353}"/>
              </a:ext>
            </a:extLst>
          </p:cNvPr>
          <p:cNvCxnSpPr>
            <a:cxnSpLocks/>
            <a:stCxn id="6" idx="2"/>
            <a:endCxn id="19" idx="0"/>
          </p:cNvCxnSpPr>
          <p:nvPr/>
        </p:nvCxnSpPr>
        <p:spPr>
          <a:xfrm>
            <a:off x="7848600" y="2667000"/>
            <a:ext cx="147572" cy="211538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C209B07-83DE-3892-CA55-CD536908A258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4572000" y="2676791"/>
            <a:ext cx="3062" cy="201747"/>
          </a:xfrm>
          <a:prstGeom prst="line">
            <a:avLst/>
          </a:prstGeom>
          <a:noFill/>
          <a:ln w="25400" cap="flat">
            <a:solidFill>
              <a:srgbClr val="6EA0B0"/>
            </a:solidFill>
            <a:prstDash val="solid"/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D48F9F6-51D4-6B9C-6E70-B1154485C635}"/>
              </a:ext>
            </a:extLst>
          </p:cNvPr>
          <p:cNvSpPr txBox="1"/>
          <p:nvPr/>
        </p:nvSpPr>
        <p:spPr>
          <a:xfrm>
            <a:off x="5391886" y="6572730"/>
            <a:ext cx="351634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 rtl="0" latinLnBrk="1" hangingPunct="0"/>
            <a:r>
              <a:rPr lang="en-US" sz="1200" b="0" i="0" dirty="0">
                <a:solidFill>
                  <a:schemeClr val="tx1"/>
                </a:solidFill>
                <a:effectLst/>
                <a:latin typeface="Söhne"/>
              </a:rPr>
              <a:t>Figure adapted from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Söhne"/>
              </a:rPr>
              <a:t>doi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Söhne"/>
              </a:rPr>
              <a:t>: 10.1016/j.procir.2016.07.080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80749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1066800"/>
          </a:xfrm>
        </p:spPr>
        <p:txBody>
          <a:bodyPr>
            <a:normAutofit/>
          </a:bodyPr>
          <a:lstStyle/>
          <a:p>
            <a:r>
              <a:rPr lang="en-US" dirty="0"/>
              <a:t>Simplified PCA model </a:t>
            </a:r>
            <a:r>
              <a:rPr lang="en-US" sz="2400" dirty="0"/>
              <a:t>(med device example)</a:t>
            </a:r>
            <a:endParaRPr lang="en-US" dirty="0"/>
          </a:p>
        </p:txBody>
      </p:sp>
      <p:pic>
        <p:nvPicPr>
          <p:cNvPr id="9" name="Picture 8" descr="A diagram of a medical device&#10;&#10;Description automatically generated">
            <a:extLst>
              <a:ext uri="{FF2B5EF4-FFF2-40B4-BE49-F238E27FC236}">
                <a16:creationId xmlns:a16="http://schemas.microsoft.com/office/drawing/2014/main" id="{41C88D9D-A369-72DD-E8FD-DD1F0E0867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4"/>
          <a:stretch/>
        </p:blipFill>
        <p:spPr>
          <a:xfrm>
            <a:off x="453079" y="1524000"/>
            <a:ext cx="7793915" cy="4343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51AD3E-A5CA-68B7-1C47-8E7A0545FEB2}"/>
              </a:ext>
            </a:extLst>
          </p:cNvPr>
          <p:cNvSpPr txBox="1"/>
          <p:nvPr/>
        </p:nvSpPr>
        <p:spPr>
          <a:xfrm>
            <a:off x="228600" y="6480717"/>
            <a:ext cx="51449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/>
                </a:solidFill>
              </a:rPr>
              <a:t>Diagram from MacNamee (2020) </a:t>
            </a:r>
            <a:r>
              <a:rPr lang="en-US" sz="1200" i="0" dirty="0">
                <a:solidFill>
                  <a:schemeClr val="bg2"/>
                </a:solidFill>
                <a:effectLst/>
                <a:latin typeface="Source Sans Pro" panose="020B05030304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https://doi.org/10.2345/0899-8205-54.1.28</a:t>
            </a:r>
            <a:r>
              <a:rPr lang="en-US" sz="1200" dirty="0">
                <a:solidFill>
                  <a:schemeClr val="bg2"/>
                </a:solidFill>
              </a:rPr>
              <a:t> </a:t>
            </a:r>
            <a:endParaRPr kumimoji="0" lang="en-US" sz="1200" i="0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883992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914400"/>
          </a:xfrm>
        </p:spPr>
        <p:txBody>
          <a:bodyPr>
            <a:normAutofit/>
          </a:bodyPr>
          <a:lstStyle/>
          <a:p>
            <a:r>
              <a:rPr lang="en-US" dirty="0"/>
              <a:t>Examples of P, C, and A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9062-286E-8370-C56F-02904EAD77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447800"/>
            <a:ext cx="8081320" cy="5181600"/>
          </a:xfrm>
        </p:spPr>
        <p:txBody>
          <a:bodyPr/>
          <a:lstStyle/>
          <a:p>
            <a:r>
              <a:rPr lang="en-US" sz="2400" dirty="0"/>
              <a:t>Accidental button press</a:t>
            </a:r>
          </a:p>
          <a:p>
            <a:pPr lvl="1"/>
            <a:r>
              <a:rPr lang="en-US" sz="2000" b="1" dirty="0"/>
              <a:t>Action error: </a:t>
            </a:r>
            <a:r>
              <a:rPr lang="en-US" sz="2000" dirty="0"/>
              <a:t>saw the button and knew it was there, but hit it during an unrelated, correct action</a:t>
            </a:r>
          </a:p>
          <a:p>
            <a:pPr lvl="1"/>
            <a:r>
              <a:rPr lang="en-US" sz="2000" b="1" dirty="0"/>
              <a:t>Perception/Sensation error: </a:t>
            </a:r>
            <a:r>
              <a:rPr lang="en-US" sz="2000" dirty="0"/>
              <a:t>Didn’t see or feel the button’s presence, so engaged with it as part of an unrelated, correct action</a:t>
            </a:r>
          </a:p>
          <a:p>
            <a:r>
              <a:rPr lang="en-US" sz="2400" dirty="0"/>
              <a:t>Released syringe plunger before dose is complete</a:t>
            </a:r>
          </a:p>
          <a:p>
            <a:pPr lvl="1"/>
            <a:r>
              <a:rPr lang="en-US" sz="2000" b="1" dirty="0"/>
              <a:t>Action error: </a:t>
            </a:r>
            <a:r>
              <a:rPr lang="en-US" sz="2000" dirty="0"/>
              <a:t>finger slipped off the plunger unintentionally</a:t>
            </a:r>
          </a:p>
          <a:p>
            <a:pPr lvl="1"/>
            <a:r>
              <a:rPr lang="en-US" sz="2000" b="1" dirty="0"/>
              <a:t>Perception error: </a:t>
            </a:r>
            <a:r>
              <a:rPr lang="en-US" sz="2000" dirty="0"/>
              <a:t>perceived the plunger to have reached the bottom of the syringe/dose window</a:t>
            </a:r>
          </a:p>
          <a:p>
            <a:pPr lvl="1"/>
            <a:r>
              <a:rPr lang="en-US" sz="2000" b="1" dirty="0"/>
              <a:t>Cognition error: </a:t>
            </a:r>
            <a:r>
              <a:rPr lang="en-US" sz="2000" dirty="0"/>
              <a:t>misremembered the instructions saying to push the plunger down for 6 seconds instead of 10 seconds</a:t>
            </a:r>
            <a:endParaRPr lang="en-US" sz="2000" b="1" dirty="0"/>
          </a:p>
          <a:p>
            <a:endParaRPr lang="en-US" sz="24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770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1"/>
          </p:nvPr>
        </p:nvSpPr>
        <p:spPr>
          <a:xfrm>
            <a:off x="453080" y="1981200"/>
            <a:ext cx="8081320" cy="4648200"/>
          </a:xfrm>
        </p:spPr>
        <p:txBody>
          <a:bodyPr/>
          <a:lstStyle/>
          <a:p>
            <a:r>
              <a:rPr lang="en-US" sz="2400" dirty="0"/>
              <a:t>Confusion or misunderstandings that </a:t>
            </a:r>
            <a:r>
              <a:rPr lang="en-US" sz="2400" u="sng" dirty="0"/>
              <a:t>never</a:t>
            </a:r>
            <a:r>
              <a:rPr lang="en-US" sz="2400" dirty="0"/>
              <a:t> lead to incorrect actions aren’t of high concern</a:t>
            </a:r>
          </a:p>
          <a:p>
            <a:endParaRPr lang="en-US" sz="2400" dirty="0"/>
          </a:p>
          <a:p>
            <a:r>
              <a:rPr lang="en-US" sz="2400" dirty="0"/>
              <a:t>Understanding why an error occurred (i.e., identifying the </a:t>
            </a:r>
            <a:r>
              <a:rPr lang="en-US" sz="2400" b="1" dirty="0"/>
              <a:t>root cause</a:t>
            </a:r>
            <a:r>
              <a:rPr lang="en-US" sz="2400" dirty="0"/>
              <a:t>) allows us to better prevent that error</a:t>
            </a: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1524000"/>
          </a:xfrm>
        </p:spPr>
        <p:txBody>
          <a:bodyPr>
            <a:normAutofit/>
          </a:bodyPr>
          <a:lstStyle/>
          <a:p>
            <a:r>
              <a:rPr lang="en-US" dirty="0"/>
              <a:t>The reason to categorize errors in the first place is to understand why they occurred</a:t>
            </a:r>
          </a:p>
        </p:txBody>
      </p:sp>
    </p:spTree>
    <p:extLst>
      <p:ext uri="{BB962C8B-B14F-4D97-AF65-F5344CB8AC3E}">
        <p14:creationId xmlns:p14="http://schemas.microsoft.com/office/powerpoint/2010/main" val="400828076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CBC8-9701-557E-2DE3-FB79CA9A5C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/>
          <a:p>
            <a:r>
              <a:rPr lang="en-US" dirty="0"/>
              <a:t>There’s usually an optimal choice, but the best option may change in differing contexts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Industry and users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Resources and ability to collaborate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Timeline/point in the development process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Practitioner skill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So, is there a “right” framework?</a:t>
            </a:r>
          </a:p>
        </p:txBody>
      </p:sp>
    </p:spTree>
    <p:extLst>
      <p:ext uri="{BB962C8B-B14F-4D97-AF65-F5344CB8AC3E}">
        <p14:creationId xmlns:p14="http://schemas.microsoft.com/office/powerpoint/2010/main" val="215408556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853852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Ensure categories allow for focused and effective “risk control measures” or “mitigations”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BB1-3D42-4E4F-61C5-AD2FBAFE2F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981200"/>
            <a:ext cx="8081320" cy="4648200"/>
          </a:xfrm>
        </p:spPr>
        <p:txBody>
          <a:bodyPr/>
          <a:lstStyle/>
          <a:p>
            <a:r>
              <a:rPr lang="en-US" sz="2400" dirty="0"/>
              <a:t>Helps product teams to focus on the “root cause” of the error – the ultimate reason it happened</a:t>
            </a:r>
          </a:p>
          <a:p>
            <a:pPr lvl="1"/>
            <a:endParaRPr lang="en-US" sz="2000" dirty="0"/>
          </a:p>
          <a:p>
            <a:r>
              <a:rPr lang="en-US" sz="2400" dirty="0"/>
              <a:t>Proper identification of root cause means better mitigation, and therefore less likely errors will occur in the future</a:t>
            </a:r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441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CBC8-9701-557E-2DE3-FB79CA9A5C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/>
          <a:p>
            <a:endParaRPr lang="en-US" sz="1000" dirty="0"/>
          </a:p>
          <a:p>
            <a:r>
              <a:rPr lang="en-US" dirty="0"/>
              <a:t>Are there principles you believe to be true?</a:t>
            </a:r>
          </a:p>
          <a:p>
            <a:pPr lvl="1"/>
            <a:r>
              <a:rPr lang="en-US" dirty="0"/>
              <a:t>e.g., The user isn’t to blame</a:t>
            </a:r>
          </a:p>
          <a:p>
            <a:pPr lvl="1"/>
            <a:r>
              <a:rPr lang="en-US" dirty="0"/>
              <a:t>e.g., Sensation, perception, and cognition affect behavior</a:t>
            </a:r>
          </a:p>
          <a:p>
            <a:pPr lvl="1"/>
            <a:r>
              <a:rPr lang="en-US" dirty="0"/>
              <a:t>e.g., Attention mediates most human choices</a:t>
            </a:r>
          </a:p>
          <a:p>
            <a:pPr lvl="1"/>
            <a:endParaRPr lang="en-US" dirty="0"/>
          </a:p>
          <a:p>
            <a:r>
              <a:rPr lang="en-US" dirty="0"/>
              <a:t>How complex is the use environment or product ecosystem?</a:t>
            </a:r>
          </a:p>
          <a:p>
            <a:endParaRPr lang="en-US" dirty="0"/>
          </a:p>
          <a:p>
            <a:r>
              <a:rPr lang="en-US" dirty="0"/>
              <a:t>What job or goal do you have? Does your team have? Are all disciplines’ goals satisfied?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or choose a framework by thinking through your context and your goals </a:t>
            </a:r>
          </a:p>
        </p:txBody>
      </p:sp>
    </p:spTree>
    <p:extLst>
      <p:ext uri="{BB962C8B-B14F-4D97-AF65-F5344CB8AC3E}">
        <p14:creationId xmlns:p14="http://schemas.microsoft.com/office/powerpoint/2010/main" val="200882310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F8F8F"/>
      </a:accent3>
      <a:accent4>
        <a:srgbClr val="707070"/>
      </a:accent4>
      <a:accent5>
        <a:srgbClr val="BACBD2"/>
      </a:accent5>
      <a:accent6>
        <a:srgbClr val="B99F0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EA0B0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EA0B0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F8F8F"/>
      </a:accent3>
      <a:accent4>
        <a:srgbClr val="707070"/>
      </a:accent4>
      <a:accent5>
        <a:srgbClr val="BACBD2"/>
      </a:accent5>
      <a:accent6>
        <a:srgbClr val="B99F0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EA0B0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EA0B0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45409</TotalTime>
  <Words>1248</Words>
  <Application>Microsoft Macintosh PowerPoint</Application>
  <PresentationFormat>On-screen Show (4:3)</PresentationFormat>
  <Paragraphs>299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Avenir Roman</vt:lpstr>
      <vt:lpstr>Franklin Gothic Book</vt:lpstr>
      <vt:lpstr>Helvetica</vt:lpstr>
      <vt:lpstr>Söhne</vt:lpstr>
      <vt:lpstr>Source Sans Pro</vt:lpstr>
      <vt:lpstr>Wingdings</vt:lpstr>
      <vt:lpstr>Wingdings 2</vt:lpstr>
      <vt:lpstr>Default</vt:lpstr>
      <vt:lpstr>PowerPoint Presentation</vt:lpstr>
      <vt:lpstr>What is Human Error</vt:lpstr>
      <vt:lpstr>Errors are often categorized using frameworks</vt:lpstr>
      <vt:lpstr>Some frameworks delineate between errors and violations</vt:lpstr>
      <vt:lpstr>Some frameworks delineate between errors and violations</vt:lpstr>
      <vt:lpstr>Some frameworks start with intent  (this can manifest in problematic ways)</vt:lpstr>
      <vt:lpstr>Some frameworks start with intent (cont.)</vt:lpstr>
      <vt:lpstr>Broadly speaking…</vt:lpstr>
      <vt:lpstr>This model serves as a hybrid between intention and goal-based frameworks</vt:lpstr>
      <vt:lpstr>Some flavors attempt to reframe intention and goal-aligned vs goal-opposed </vt:lpstr>
      <vt:lpstr>Still other frameworks start to split out top-down and bottom-up or two-way use issues</vt:lpstr>
      <vt:lpstr>A common framework in Usability/UX/HFE is the Perception-Cognition-Action model</vt:lpstr>
      <vt:lpstr>Semi-detailed PCA model (manufacturing example)</vt:lpstr>
      <vt:lpstr>Simplified PCA model (med device example)</vt:lpstr>
      <vt:lpstr>Examples of P, C, and A errors</vt:lpstr>
      <vt:lpstr>The reason to categorize errors in the first place is to understand why they occurred</vt:lpstr>
      <vt:lpstr>So, is there a “right” framework?</vt:lpstr>
      <vt:lpstr>Ensure categories allow for focused and effective “risk control measures” or “mitigations”</vt:lpstr>
      <vt:lpstr>Create or choose a framework by thinking through your context and your goals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Durrani, Sami</dc:creator>
  <cp:lastModifiedBy>Kate Macnamee</cp:lastModifiedBy>
  <cp:revision>91</cp:revision>
  <cp:lastPrinted>2016-09-11T23:21:58Z</cp:lastPrinted>
  <dcterms:modified xsi:type="dcterms:W3CDTF">2023-12-05T19:04:43Z</dcterms:modified>
</cp:coreProperties>
</file>