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73" r:id="rId4"/>
    <p:sldId id="279" r:id="rId5"/>
    <p:sldId id="275" r:id="rId6"/>
    <p:sldId id="278" r:id="rId7"/>
    <p:sldId id="277" r:id="rId8"/>
  </p:sldIdLst>
  <p:sldSz cx="9144000" cy="6858000" type="screen4x3"/>
  <p:notesSz cx="6858000" cy="9144000"/>
  <p:defaultTextStyle>
    <a:lvl1pPr>
      <a:defRPr>
        <a:latin typeface="Arial"/>
        <a:ea typeface="Arial"/>
        <a:cs typeface="Arial"/>
        <a:sym typeface="Arial"/>
      </a:defRPr>
    </a:lvl1pPr>
    <a:lvl2pPr indent="457200">
      <a:defRPr>
        <a:latin typeface="Arial"/>
        <a:ea typeface="Arial"/>
        <a:cs typeface="Arial"/>
        <a:sym typeface="Arial"/>
      </a:defRPr>
    </a:lvl2pPr>
    <a:lvl3pPr indent="914400">
      <a:defRPr>
        <a:latin typeface="Arial"/>
        <a:ea typeface="Arial"/>
        <a:cs typeface="Arial"/>
        <a:sym typeface="Arial"/>
      </a:defRPr>
    </a:lvl3pPr>
    <a:lvl4pPr indent="1371600">
      <a:defRPr>
        <a:latin typeface="Arial"/>
        <a:ea typeface="Arial"/>
        <a:cs typeface="Arial"/>
        <a:sym typeface="Arial"/>
      </a:defRPr>
    </a:lvl4pPr>
    <a:lvl5pPr indent="1828800">
      <a:defRPr>
        <a:latin typeface="Arial"/>
        <a:ea typeface="Arial"/>
        <a:cs typeface="Arial"/>
        <a:sym typeface="Arial"/>
      </a:defRPr>
    </a:lvl5pPr>
    <a:lvl6pPr>
      <a:defRPr>
        <a:latin typeface="Arial"/>
        <a:ea typeface="Arial"/>
        <a:cs typeface="Arial"/>
        <a:sym typeface="Arial"/>
      </a:defRPr>
    </a:lvl6pPr>
    <a:lvl7pPr>
      <a:defRPr>
        <a:latin typeface="Arial"/>
        <a:ea typeface="Arial"/>
        <a:cs typeface="Arial"/>
        <a:sym typeface="Arial"/>
      </a:defRPr>
    </a:lvl7pPr>
    <a:lvl8pPr>
      <a:defRPr>
        <a:latin typeface="Arial"/>
        <a:ea typeface="Arial"/>
        <a:cs typeface="Arial"/>
        <a:sym typeface="Arial"/>
      </a:defRPr>
    </a:lvl8pPr>
    <a:lvl9pPr>
      <a:defRPr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68" userDrawn="1">
          <p15:clr>
            <a:srgbClr val="A4A3A4"/>
          </p15:clr>
        </p15:guide>
        <p15:guide id="2" pos="336" userDrawn="1">
          <p15:clr>
            <a:srgbClr val="A4A3A4"/>
          </p15:clr>
        </p15:guide>
        <p15:guide id="3" orient="horz" pos="41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AEF"/>
    <a:srgbClr val="0081DD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5E1C0F-2A28-4D45-AAFC-5F42C89171DB}" v="953" dt="2024-02-15T02:31:20.345"/>
    <p1510:client id="{E6922179-B46E-451D-A3CE-0B34346A0E68}" v="7" dt="2024-02-15T03:11:38.32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4DFE3"/>
          </a:solidFill>
        </a:fill>
      </a:tcStyle>
    </a:wholeTbl>
    <a:band2H>
      <a:tcTxStyle/>
      <a:tcStyle>
        <a:tcBdr/>
        <a:fill>
          <a:solidFill>
            <a:srgbClr val="EAF0F2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6EA0B0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6EA0B0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6EA0B0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E6DFCA"/>
          </a:solidFill>
        </a:fill>
      </a:tcStyle>
    </a:wholeTbl>
    <a:band2H>
      <a:tcTxStyle/>
      <a:tcStyle>
        <a:tcBdr/>
        <a:fill>
          <a:solidFill>
            <a:srgbClr val="F3EFE6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99F09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99F09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99F09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EA0B0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EA0B0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07" autoAdjust="0"/>
    <p:restoredTop sz="77634" autoAdjust="0"/>
  </p:normalViewPr>
  <p:slideViewPr>
    <p:cSldViewPr showGuides="1">
      <p:cViewPr varScale="1">
        <p:scale>
          <a:sx n="181" d="100"/>
          <a:sy n="181" d="100"/>
        </p:scale>
        <p:origin x="1272" y="192"/>
      </p:cViewPr>
      <p:guideLst>
        <p:guide orient="horz" pos="768"/>
        <p:guide pos="336"/>
        <p:guide orient="horz" pos="4176"/>
      </p:guideLst>
    </p:cSldViewPr>
  </p:slideViewPr>
  <p:outlineViewPr>
    <p:cViewPr>
      <p:scale>
        <a:sx n="33" d="100"/>
        <a:sy n="33" d="100"/>
      </p:scale>
      <p:origin x="0" y="-236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i Durrani" clId="Web-{E6922179-B46E-451D-A3CE-0B34346A0E68}"/>
    <pc:docChg chg="modSld">
      <pc:chgData name="Sami Durrani" userId="" providerId="" clId="Web-{E6922179-B46E-451D-A3CE-0B34346A0E68}" dt="2024-02-15T03:11:38.329" v="6"/>
      <pc:docMkLst>
        <pc:docMk/>
      </pc:docMkLst>
      <pc:sldChg chg="modSp addAnim modAnim">
        <pc:chgData name="Sami Durrani" userId="" providerId="" clId="Web-{E6922179-B46E-451D-A3CE-0B34346A0E68}" dt="2024-02-15T03:11:38.329" v="6"/>
        <pc:sldMkLst>
          <pc:docMk/>
          <pc:sldMk cId="3835188476" sldId="275"/>
        </pc:sldMkLst>
        <pc:spChg chg="mod">
          <ac:chgData name="Sami Durrani" userId="" providerId="" clId="Web-{E6922179-B46E-451D-A3CE-0B34346A0E68}" dt="2024-02-15T03:10:46.562" v="2" actId="1076"/>
          <ac:spMkLst>
            <pc:docMk/>
            <pc:sldMk cId="3835188476" sldId="275"/>
            <ac:spMk id="292890" creationId="{D9C911C1-FBC7-82AD-2863-3AA9B403BC32}"/>
          </ac:spMkLst>
        </pc:spChg>
      </pc:sldChg>
      <pc:sldChg chg="modSp">
        <pc:chgData name="Sami Durrani" userId="" providerId="" clId="Web-{E6922179-B46E-451D-A3CE-0B34346A0E68}" dt="2024-02-15T03:10:36.233" v="1" actId="20577"/>
        <pc:sldMkLst>
          <pc:docMk/>
          <pc:sldMk cId="307403696" sldId="277"/>
        </pc:sldMkLst>
        <pc:spChg chg="mod">
          <ac:chgData name="Sami Durrani" userId="" providerId="" clId="Web-{E6922179-B46E-451D-A3CE-0B34346A0E68}" dt="2024-02-15T03:10:36.233" v="1" actId="20577"/>
          <ac:spMkLst>
            <pc:docMk/>
            <pc:sldMk cId="307403696" sldId="277"/>
            <ac:spMk id="292866" creationId="{E9B41230-C7F2-1629-28C2-3E1AC024AE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59" name="Shape 5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17958600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1pPr>
    <a:lvl2pPr indent="2286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2pPr>
    <a:lvl3pPr indent="4572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3pPr>
    <a:lvl4pPr indent="6858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4pPr>
    <a:lvl5pPr indent="9144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5pPr>
    <a:lvl6pPr indent="11430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6pPr>
    <a:lvl7pPr indent="13716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7pPr>
    <a:lvl8pPr indent="16002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8pPr>
    <a:lvl9pPr indent="18288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introductions </a:t>
            </a:r>
          </a:p>
        </p:txBody>
      </p:sp>
    </p:spTree>
    <p:extLst>
      <p:ext uri="{BB962C8B-B14F-4D97-AF65-F5344CB8AC3E}">
        <p14:creationId xmlns:p14="http://schemas.microsoft.com/office/powerpoint/2010/main" val="1435907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473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5644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99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1D81A-F94C-4F03-FC8A-86E3112F9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>
            <a:extLst>
              <a:ext uri="{FF2B5EF4-FFF2-40B4-BE49-F238E27FC236}">
                <a16:creationId xmlns:a16="http://schemas.microsoft.com/office/drawing/2014/main" id="{C7E7C14F-3E83-9BE7-A848-06B5200938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F132E0B0-EA00-16C0-BEC3-D29915E242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0926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72B7B-39B2-34AC-0114-714123E65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1BA1F4-B3E9-978C-59B5-45987CC9A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BF6EE1-204E-2A2E-7EE0-F2A88A783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255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B888D-2FED-E756-038B-5D8F2344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>
            <a:extLst>
              <a:ext uri="{FF2B5EF4-FFF2-40B4-BE49-F238E27FC236}">
                <a16:creationId xmlns:a16="http://schemas.microsoft.com/office/drawing/2014/main" id="{FC2C2620-ECFF-6B72-5B7C-DF43CE5787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ADA44605-BE52-4169-1B41-AFF46736B2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0803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>
            <a:spLocks noGrp="1"/>
          </p:cNvSpPr>
          <p:nvPr>
            <p:ph type="sldNum" sz="quarter" idx="2"/>
          </p:nvPr>
        </p:nvSpPr>
        <p:spPr>
          <a:xfrm>
            <a:off x="8153400" y="6632675"/>
            <a:ext cx="762000" cy="153888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a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153400" y="6629400"/>
            <a:ext cx="762000" cy="184666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453080" y="1143000"/>
            <a:ext cx="7886700" cy="5486400"/>
          </a:xfrm>
        </p:spPr>
        <p:txBody>
          <a:bodyPr/>
          <a:lstStyle>
            <a:lvl1pPr marL="344488" indent="-227013">
              <a:buFont typeface="Wingdings" charset="2"/>
              <a:buChar char="§"/>
              <a:tabLst/>
              <a:defRPr sz="2800">
                <a:latin typeface="+mn-ea"/>
                <a:ea typeface="+mn-ea"/>
              </a:defRPr>
            </a:lvl1pPr>
            <a:lvl2pPr marL="688975" indent="-239713">
              <a:buFont typeface="Wingdings" charset="2"/>
              <a:buChar char="§"/>
              <a:tabLst/>
              <a:defRPr sz="2400">
                <a:latin typeface="+mn-ea"/>
                <a:ea typeface="+mn-ea"/>
              </a:defRPr>
            </a:lvl2pPr>
            <a:lvl3pPr marL="979488" indent="-230188">
              <a:buFont typeface="Wingdings" charset="2"/>
              <a:buChar char="§"/>
              <a:tabLst/>
              <a:defRPr sz="2400">
                <a:latin typeface="+mn-ea"/>
                <a:ea typeface="+mn-ea"/>
              </a:defRPr>
            </a:lvl3pPr>
            <a:lvl4pPr marL="1397793" indent="-354806">
              <a:buFont typeface="Wingdings" charset="2"/>
              <a:buChar char="§"/>
              <a:defRPr sz="2800">
                <a:latin typeface="+mn-ea"/>
                <a:ea typeface="+mn-ea"/>
              </a:defRPr>
            </a:lvl4pPr>
            <a:lvl5pPr marL="1610783" indent="-304270">
              <a:buFont typeface="Wingdings" charset="2"/>
              <a:buChar char="§"/>
              <a:defRPr sz="2800">
                <a:latin typeface="+mn-ea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533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84056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5438"/>
            <a:ext cx="8382000" cy="6651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1708160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6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2"/>
          <p:cNvSpPr>
            <a:spLocks noGrp="1" noChangeArrowheads="1"/>
          </p:cNvSpPr>
          <p:nvPr>
            <p:ph type="ftr" sz="quarter" idx="11"/>
          </p:nvPr>
        </p:nvSpPr>
        <p:spPr>
          <a:xfrm>
            <a:off x="228600" y="6553200"/>
            <a:ext cx="7924800" cy="2286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Copyright 2012 by Eric Bergman &amp; Merrick Kossack.  Do not duplicate or use without author permission.    </a:t>
            </a:r>
          </a:p>
        </p:txBody>
      </p:sp>
      <p:sp>
        <p:nvSpPr>
          <p:cNvPr id="6" name="Rectangle 6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05800" y="6553200"/>
            <a:ext cx="609600" cy="2286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F7679E69-3C58-48FC-98EB-DE833BEFD9C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1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</p:spTree>
    <p:extLst>
      <p:ext uri="{BB962C8B-B14F-4D97-AF65-F5344CB8AC3E}">
        <p14:creationId xmlns:p14="http://schemas.microsoft.com/office/powerpoint/2010/main" val="2771590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</p:spTree>
    <p:extLst>
      <p:ext uri="{BB962C8B-B14F-4D97-AF65-F5344CB8AC3E}">
        <p14:creationId xmlns:p14="http://schemas.microsoft.com/office/powerpoint/2010/main" val="1573909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</p:spTree>
    <p:extLst>
      <p:ext uri="{BB962C8B-B14F-4D97-AF65-F5344CB8AC3E}">
        <p14:creationId xmlns:p14="http://schemas.microsoft.com/office/powerpoint/2010/main" val="836535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hape 22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Shape 23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Shape 24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2400250" y="1683455"/>
            <a:ext cx="6321600" cy="4003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spcAft>
                <a:spcPts val="1200"/>
              </a:spcAft>
              <a:buChar char="●"/>
              <a:defRPr/>
            </a:lvl1pPr>
            <a:lvl2pPr lvl="1">
              <a:spcBef>
                <a:spcPts val="0"/>
              </a:spcBef>
              <a:buChar char="○"/>
              <a:defRPr/>
            </a:lvl2pPr>
            <a:lvl3pPr lvl="2">
              <a:spcBef>
                <a:spcPts val="0"/>
              </a:spcBef>
              <a:spcAft>
                <a:spcPts val="1200"/>
              </a:spcAft>
              <a:buChar char="■"/>
              <a:defRPr/>
            </a:lvl3pPr>
            <a:lvl4pPr lvl="3">
              <a:spcBef>
                <a:spcPts val="0"/>
              </a:spcBef>
              <a:spcAft>
                <a:spcPts val="1200"/>
              </a:spcAft>
              <a:buChar char="●"/>
              <a:defRPr/>
            </a:lvl4pPr>
            <a:lvl5pPr lvl="4">
              <a:spcBef>
                <a:spcPts val="0"/>
              </a:spcBef>
              <a:spcAft>
                <a:spcPts val="1200"/>
              </a:spcAft>
              <a:buChar char="○"/>
              <a:defRPr/>
            </a:lvl5pPr>
            <a:lvl6pPr lvl="5">
              <a:spcBef>
                <a:spcPts val="0"/>
              </a:spcBef>
              <a:spcAft>
                <a:spcPts val="1200"/>
              </a:spcAft>
              <a:buChar char="■"/>
              <a:defRPr/>
            </a:lvl6pPr>
            <a:lvl7pPr lvl="6">
              <a:spcBef>
                <a:spcPts val="0"/>
              </a:spcBef>
              <a:spcAft>
                <a:spcPts val="1200"/>
              </a:spcAft>
              <a:buChar char="●"/>
              <a:defRPr/>
            </a:lvl7pPr>
            <a:lvl8pPr lvl="7">
              <a:spcBef>
                <a:spcPts val="0"/>
              </a:spcBef>
              <a:spcAft>
                <a:spcPts val="1200"/>
              </a:spcAft>
              <a:buChar char="○"/>
              <a:defRPr/>
            </a:lvl8pPr>
            <a:lvl9pPr lvl="8">
              <a:spcBef>
                <a:spcPts val="0"/>
              </a:spcBef>
              <a:buChar char="■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97999" y="6251678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0131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hape 29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Shape 30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Shape 31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2386533" y="1683455"/>
            <a:ext cx="3071400" cy="4003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spcAft>
                <a:spcPts val="1200"/>
              </a:spcAft>
              <a:buSzPct val="100000"/>
              <a:defRPr sz="1400"/>
            </a:lvl1pPr>
            <a:lvl2pPr lvl="1">
              <a:spcBef>
                <a:spcPts val="0"/>
              </a:spcBef>
              <a:spcAft>
                <a:spcPts val="1200"/>
              </a:spcAft>
              <a:buSzPct val="100000"/>
              <a:defRPr sz="1200"/>
            </a:lvl2pPr>
            <a:lvl3pPr lvl="2">
              <a:spcBef>
                <a:spcPts val="0"/>
              </a:spcBef>
              <a:spcAft>
                <a:spcPts val="1200"/>
              </a:spcAft>
              <a:buSzPct val="100000"/>
              <a:defRPr sz="1200"/>
            </a:lvl3pPr>
            <a:lvl4pPr lvl="3">
              <a:spcBef>
                <a:spcPts val="0"/>
              </a:spcBef>
              <a:spcAft>
                <a:spcPts val="1200"/>
              </a:spcAft>
              <a:buSzPct val="100000"/>
              <a:defRPr sz="1200"/>
            </a:lvl4pPr>
            <a:lvl5pPr lvl="4">
              <a:spcBef>
                <a:spcPts val="0"/>
              </a:spcBef>
              <a:spcAft>
                <a:spcPts val="1200"/>
              </a:spcAft>
              <a:buSzPct val="100000"/>
              <a:defRPr sz="1200"/>
            </a:lvl5pPr>
            <a:lvl6pPr lvl="5">
              <a:spcBef>
                <a:spcPts val="0"/>
              </a:spcBef>
              <a:spcAft>
                <a:spcPts val="1200"/>
              </a:spcAft>
              <a:buSzPct val="100000"/>
              <a:defRPr sz="1200"/>
            </a:lvl6pPr>
            <a:lvl7pPr lvl="6">
              <a:spcBef>
                <a:spcPts val="0"/>
              </a:spcBef>
              <a:spcAft>
                <a:spcPts val="1200"/>
              </a:spcAft>
              <a:buSzPct val="100000"/>
              <a:defRPr sz="1200"/>
            </a:lvl7pPr>
            <a:lvl8pPr lvl="7">
              <a:spcBef>
                <a:spcPts val="0"/>
              </a:spcBef>
              <a:spcAft>
                <a:spcPts val="1200"/>
              </a:spcAft>
              <a:buSzPct val="100000"/>
              <a:defRPr sz="1200"/>
            </a:lvl8pPr>
            <a:lvl9pPr lvl="8">
              <a:spcBef>
                <a:spcPts val="0"/>
              </a:spcBef>
              <a:spcAft>
                <a:spcPts val="1200"/>
              </a:spcAft>
              <a:buSzPct val="100000"/>
              <a:defRPr sz="12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2"/>
          </p:nvPr>
        </p:nvSpPr>
        <p:spPr>
          <a:xfrm>
            <a:off x="5636802" y="1683455"/>
            <a:ext cx="3071400" cy="4003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spcAft>
                <a:spcPts val="1200"/>
              </a:spcAft>
              <a:buSzPct val="100000"/>
              <a:defRPr sz="1400"/>
            </a:lvl1pPr>
            <a:lvl2pPr lvl="1">
              <a:spcBef>
                <a:spcPts val="0"/>
              </a:spcBef>
              <a:spcAft>
                <a:spcPts val="1200"/>
              </a:spcAft>
              <a:buSzPct val="100000"/>
              <a:defRPr sz="1200"/>
            </a:lvl2pPr>
            <a:lvl3pPr lvl="2">
              <a:spcBef>
                <a:spcPts val="0"/>
              </a:spcBef>
              <a:spcAft>
                <a:spcPts val="1200"/>
              </a:spcAft>
              <a:buSzPct val="100000"/>
              <a:defRPr sz="1200"/>
            </a:lvl3pPr>
            <a:lvl4pPr lvl="3">
              <a:spcBef>
                <a:spcPts val="0"/>
              </a:spcBef>
              <a:spcAft>
                <a:spcPts val="1200"/>
              </a:spcAft>
              <a:buSzPct val="100000"/>
              <a:defRPr sz="1200"/>
            </a:lvl4pPr>
            <a:lvl5pPr lvl="4">
              <a:spcBef>
                <a:spcPts val="0"/>
              </a:spcBef>
              <a:spcAft>
                <a:spcPts val="1200"/>
              </a:spcAft>
              <a:buSzPct val="100000"/>
              <a:defRPr sz="1200"/>
            </a:lvl5pPr>
            <a:lvl6pPr lvl="5">
              <a:spcBef>
                <a:spcPts val="0"/>
              </a:spcBef>
              <a:spcAft>
                <a:spcPts val="1200"/>
              </a:spcAft>
              <a:buSzPct val="100000"/>
              <a:defRPr sz="1200"/>
            </a:lvl6pPr>
            <a:lvl7pPr lvl="6">
              <a:spcBef>
                <a:spcPts val="0"/>
              </a:spcBef>
              <a:spcAft>
                <a:spcPts val="1200"/>
              </a:spcAft>
              <a:buSzPct val="100000"/>
              <a:defRPr sz="1200"/>
            </a:lvl7pPr>
            <a:lvl8pPr lvl="7">
              <a:spcBef>
                <a:spcPts val="0"/>
              </a:spcBef>
              <a:spcAft>
                <a:spcPts val="1200"/>
              </a:spcAft>
              <a:buSzPct val="100000"/>
              <a:defRPr sz="1200"/>
            </a:lvl8pPr>
            <a:lvl9pPr lvl="8">
              <a:spcBef>
                <a:spcPts val="0"/>
              </a:spcBef>
              <a:spcAft>
                <a:spcPts val="1200"/>
              </a:spcAft>
              <a:buSzPct val="100000"/>
              <a:defRPr sz="1200"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sldNum" idx="12"/>
          </p:nvPr>
        </p:nvSpPr>
        <p:spPr>
          <a:xfrm>
            <a:off x="8497999" y="6251678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20080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457199" y="989014"/>
            <a:ext cx="7882581" cy="1586"/>
          </a:xfrm>
          <a:prstGeom prst="line">
            <a:avLst/>
          </a:prstGeom>
          <a:ln>
            <a:solidFill>
              <a:srgbClr val="6A9DAE"/>
            </a:solidFill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457200" y="1246703"/>
            <a:ext cx="7882580" cy="5611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/>
          <a:lstStyle/>
          <a:p>
            <a:pPr marL="419100" lvl="0" indent="-382587">
              <a:spcBef>
                <a:spcPts val="700"/>
              </a:spcBef>
              <a:buClr>
                <a:srgbClr val="6EA0B0"/>
              </a:buClr>
              <a:buSzPct val="80000"/>
              <a:buFont typeface="Wingdings" panose="05000000000000000000" pitchFamily="2" charset="2"/>
              <a:buChar char="§"/>
              <a:defRPr sz="1800"/>
            </a:pPr>
            <a:r>
              <a:rPr sz="3000" dirty="0"/>
              <a:t>Body Level One</a:t>
            </a:r>
          </a:p>
          <a:p>
            <a:pPr lvl="1">
              <a:defRPr sz="1800"/>
            </a:pPr>
            <a:r>
              <a:rPr sz="3000" dirty="0"/>
              <a:t>Body Level Two</a:t>
            </a:r>
          </a:p>
          <a:p>
            <a:pPr lvl="2">
              <a:defRPr sz="1800"/>
            </a:pPr>
            <a:r>
              <a:rPr sz="3000" dirty="0"/>
              <a:t>Body Level Three</a:t>
            </a:r>
          </a:p>
          <a:p>
            <a:pPr lvl="3">
              <a:defRPr sz="1800"/>
            </a:pPr>
            <a:r>
              <a:rPr sz="3000" dirty="0"/>
              <a:t>Body Level Four</a:t>
            </a:r>
          </a:p>
          <a:p>
            <a:pPr lvl="4">
              <a:defRPr sz="1800"/>
            </a:pPr>
            <a:r>
              <a:rPr sz="3000" dirty="0"/>
              <a:t>Body Level Five</a:t>
            </a:r>
          </a:p>
        </p:txBody>
      </p:sp>
      <p:sp>
        <p:nvSpPr>
          <p:cNvPr id="7" name="Shape 7"/>
          <p:cNvSpPr>
            <a:spLocks noGrp="1"/>
          </p:cNvSpPr>
          <p:nvPr>
            <p:ph type="sldNum" sz="quarter" idx="2"/>
          </p:nvPr>
        </p:nvSpPr>
        <p:spPr>
          <a:xfrm>
            <a:off x="8153400" y="6601897"/>
            <a:ext cx="762000" cy="1846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453080" y="152400"/>
            <a:ext cx="7886700" cy="56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ransition spd="med"/>
  <p:hf hdr="0" ftr="0" dt="0"/>
  <p:txStyles>
    <p:titleStyle>
      <a:lvl1pPr>
        <a:defRPr sz="3200">
          <a:latin typeface="+mn-lt"/>
          <a:ea typeface="Franklin Gothic Book"/>
          <a:cs typeface="Franklin Gothic Book"/>
          <a:sym typeface="Franklin Gothic Book"/>
        </a:defRPr>
      </a:lvl1pPr>
      <a:lvl2pPr>
        <a:defRPr sz="4600">
          <a:latin typeface="Franklin Gothic Book"/>
          <a:ea typeface="Franklin Gothic Book"/>
          <a:cs typeface="Franklin Gothic Book"/>
          <a:sym typeface="Franklin Gothic Book"/>
        </a:defRPr>
      </a:lvl2pPr>
      <a:lvl3pPr>
        <a:defRPr sz="4600">
          <a:latin typeface="Franklin Gothic Book"/>
          <a:ea typeface="Franklin Gothic Book"/>
          <a:cs typeface="Franklin Gothic Book"/>
          <a:sym typeface="Franklin Gothic Book"/>
        </a:defRPr>
      </a:lvl3pPr>
      <a:lvl4pPr>
        <a:defRPr sz="4600">
          <a:latin typeface="Franklin Gothic Book"/>
          <a:ea typeface="Franklin Gothic Book"/>
          <a:cs typeface="Franklin Gothic Book"/>
          <a:sym typeface="Franklin Gothic Book"/>
        </a:defRPr>
      </a:lvl4pPr>
      <a:lvl5pPr>
        <a:defRPr sz="4600">
          <a:latin typeface="Franklin Gothic Book"/>
          <a:ea typeface="Franklin Gothic Book"/>
          <a:cs typeface="Franklin Gothic Book"/>
          <a:sym typeface="Franklin Gothic Book"/>
        </a:defRPr>
      </a:lvl5pPr>
      <a:lvl6pPr indent="457200">
        <a:defRPr sz="4600">
          <a:latin typeface="Franklin Gothic Book"/>
          <a:ea typeface="Franklin Gothic Book"/>
          <a:cs typeface="Franklin Gothic Book"/>
          <a:sym typeface="Franklin Gothic Book"/>
        </a:defRPr>
      </a:lvl6pPr>
      <a:lvl7pPr indent="914400">
        <a:defRPr sz="4600">
          <a:latin typeface="Franklin Gothic Book"/>
          <a:ea typeface="Franklin Gothic Book"/>
          <a:cs typeface="Franklin Gothic Book"/>
          <a:sym typeface="Franklin Gothic Book"/>
        </a:defRPr>
      </a:lvl7pPr>
      <a:lvl8pPr indent="1371600">
        <a:defRPr sz="4600">
          <a:latin typeface="Franklin Gothic Book"/>
          <a:ea typeface="Franklin Gothic Book"/>
          <a:cs typeface="Franklin Gothic Book"/>
          <a:sym typeface="Franklin Gothic Book"/>
        </a:defRPr>
      </a:lvl8pPr>
      <a:lvl9pPr indent="1828800">
        <a:defRPr sz="4600">
          <a:latin typeface="Franklin Gothic Book"/>
          <a:ea typeface="Franklin Gothic Book"/>
          <a:cs typeface="Franklin Gothic Book"/>
          <a:sym typeface="Franklin Gothic Book"/>
        </a:defRPr>
      </a:lvl9pPr>
    </p:titleStyle>
    <p:bodyStyle>
      <a:lvl1pPr marL="550863" indent="-514350">
        <a:spcBef>
          <a:spcPts val="700"/>
        </a:spcBef>
        <a:buClr>
          <a:srgbClr val="6EA0B0"/>
        </a:buClr>
        <a:buSzPct val="80000"/>
        <a:buFont typeface="Arial" panose="020B0604020202020204" pitchFamily="34" charset="0"/>
        <a:buChar char="•"/>
        <a:defRPr sz="3000" dirty="0">
          <a:latin typeface="+mn-lt"/>
          <a:ea typeface="Arial"/>
          <a:cs typeface="Arial"/>
          <a:sym typeface="Arial"/>
        </a:defRPr>
      </a:lvl1pPr>
      <a:lvl2pPr marL="764320" indent="-315057">
        <a:spcBef>
          <a:spcPts val="700"/>
        </a:spcBef>
        <a:buClr>
          <a:srgbClr val="6EA0B0"/>
        </a:buClr>
        <a:buSzPct val="90000"/>
        <a:buFont typeface="Arial" panose="020B0604020202020204" pitchFamily="34" charset="0"/>
        <a:buChar char="•"/>
        <a:defRPr sz="3000">
          <a:latin typeface="+mn-lt"/>
          <a:ea typeface="Arial"/>
          <a:cs typeface="Arial"/>
          <a:sym typeface="Arial"/>
        </a:defRPr>
      </a:lvl2pPr>
      <a:lvl3pPr marL="1068784" indent="-319484">
        <a:spcBef>
          <a:spcPts val="700"/>
        </a:spcBef>
        <a:buClr>
          <a:srgbClr val="6EA0B0"/>
        </a:buClr>
        <a:buSzPct val="85000"/>
        <a:buFont typeface="Arial" panose="020B0604020202020204" pitchFamily="34" charset="0"/>
        <a:buChar char="•"/>
        <a:defRPr sz="3000">
          <a:latin typeface="+mn-lt"/>
          <a:ea typeface="Arial"/>
          <a:cs typeface="Arial"/>
          <a:sym typeface="Arial"/>
        </a:defRPr>
      </a:lvl3pPr>
      <a:lvl4pPr marL="1397793" indent="-354806">
        <a:spcBef>
          <a:spcPts val="700"/>
        </a:spcBef>
        <a:buClr>
          <a:srgbClr val="6EA0B0"/>
        </a:buClr>
        <a:buSzPct val="90000"/>
        <a:buFont typeface="Arial" panose="020B0604020202020204" pitchFamily="34" charset="0"/>
        <a:buChar char="•"/>
        <a:defRPr sz="3000">
          <a:latin typeface="+mn-lt"/>
          <a:ea typeface="Arial"/>
          <a:cs typeface="Arial"/>
          <a:sym typeface="Arial"/>
        </a:defRPr>
      </a:lvl4pPr>
      <a:lvl5pPr marL="1610783" indent="-304270">
        <a:spcBef>
          <a:spcPts val="700"/>
        </a:spcBef>
        <a:buClr>
          <a:srgbClr val="6EA0B0"/>
        </a:buClr>
        <a:buSzPct val="100000"/>
        <a:buFont typeface="Arial" panose="020B0604020202020204" pitchFamily="34" charset="0"/>
        <a:buChar char="•"/>
        <a:defRPr sz="3000">
          <a:latin typeface="+mn-lt"/>
          <a:ea typeface="Arial"/>
          <a:cs typeface="Arial"/>
          <a:sym typeface="Arial"/>
        </a:defRPr>
      </a:lvl5pPr>
      <a:lvl6pPr marL="2067983" indent="-304270">
        <a:spcBef>
          <a:spcPts val="700"/>
        </a:spcBef>
        <a:buClr>
          <a:srgbClr val="6EA0B0"/>
        </a:buClr>
        <a:buSzPct val="100000"/>
        <a:buFont typeface="Wingdings 2"/>
        <a:buChar char="•"/>
        <a:defRPr sz="3000">
          <a:latin typeface="Arial"/>
          <a:ea typeface="Arial"/>
          <a:cs typeface="Arial"/>
          <a:sym typeface="Arial"/>
        </a:defRPr>
      </a:lvl6pPr>
      <a:lvl7pPr marL="2525183" indent="-304270">
        <a:spcBef>
          <a:spcPts val="700"/>
        </a:spcBef>
        <a:buClr>
          <a:srgbClr val="6EA0B0"/>
        </a:buClr>
        <a:buSzPct val="100000"/>
        <a:buFont typeface="Wingdings 2"/>
        <a:buChar char="•"/>
        <a:defRPr sz="3000">
          <a:latin typeface="Arial"/>
          <a:ea typeface="Arial"/>
          <a:cs typeface="Arial"/>
          <a:sym typeface="Arial"/>
        </a:defRPr>
      </a:lvl7pPr>
      <a:lvl8pPr marL="2982383" indent="-304270">
        <a:spcBef>
          <a:spcPts val="700"/>
        </a:spcBef>
        <a:buClr>
          <a:srgbClr val="6EA0B0"/>
        </a:buClr>
        <a:buSzPct val="100000"/>
        <a:buFont typeface="Wingdings 2"/>
        <a:buChar char="•"/>
        <a:defRPr sz="3000">
          <a:latin typeface="Arial"/>
          <a:ea typeface="Arial"/>
          <a:cs typeface="Arial"/>
          <a:sym typeface="Arial"/>
        </a:defRPr>
      </a:lvl8pPr>
      <a:lvl9pPr marL="3439583" indent="-304270">
        <a:spcBef>
          <a:spcPts val="700"/>
        </a:spcBef>
        <a:buClr>
          <a:srgbClr val="6EA0B0"/>
        </a:buClr>
        <a:buSzPct val="100000"/>
        <a:buFont typeface="Wingdings 2"/>
        <a:buChar char="•"/>
        <a:defRPr sz="3000">
          <a:latin typeface="Arial"/>
          <a:ea typeface="Arial"/>
          <a:cs typeface="Arial"/>
          <a:sym typeface="Arial"/>
        </a:defRPr>
      </a:lvl9pPr>
    </p:bodyStyle>
    <p:otherStyle>
      <a:lvl1pPr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1pPr>
      <a:lvl2pPr indent="457200"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2pPr>
      <a:lvl3pPr indent="914400"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3pPr>
      <a:lvl4pPr indent="1371600"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4pPr>
      <a:lvl5pPr indent="1828800"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5pPr>
      <a:lvl6pPr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6pPr>
      <a:lvl7pPr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7pPr>
      <a:lvl8pPr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8pPr>
      <a:lvl9pPr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2" Type="http://schemas.microsoft.com/office/2007/relationships/media" Target="../media/media1.m4a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/>
        </p:nvSpPr>
        <p:spPr>
          <a:xfrm>
            <a:off x="556910" y="3352800"/>
            <a:ext cx="7520290" cy="0"/>
          </a:xfrm>
          <a:prstGeom prst="line">
            <a:avLst/>
          </a:prstGeom>
          <a:ln>
            <a:solidFill>
              <a:srgbClr val="6A9DAE"/>
            </a:solidFill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64" name="Shape 64"/>
          <p:cNvSpPr/>
          <p:nvPr/>
        </p:nvSpPr>
        <p:spPr>
          <a:xfrm>
            <a:off x="1597023" y="6266021"/>
            <a:ext cx="6480177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r">
              <a:spcBef>
                <a:spcPts val="200"/>
              </a:spcBef>
              <a:defRPr sz="1200"/>
            </a:lvl1pPr>
          </a:lstStyle>
          <a:p>
            <a:pPr lvl="0">
              <a:defRPr sz="1800"/>
            </a:pPr>
            <a:r>
              <a:rPr lang="en-US" sz="1400" dirty="0">
                <a:latin typeface="+mj-lt"/>
              </a:rPr>
              <a:t>Sami Durrani PhD</a:t>
            </a:r>
            <a:endParaRPr sz="14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5F1C20-1729-502B-6468-FFD00C5A83A8}"/>
              </a:ext>
            </a:extLst>
          </p:cNvPr>
          <p:cNvSpPr txBox="1"/>
          <p:nvPr/>
        </p:nvSpPr>
        <p:spPr>
          <a:xfrm>
            <a:off x="532256" y="3407628"/>
            <a:ext cx="7621143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r"/>
            <a:r>
              <a:rPr lang="en-US" sz="2400" dirty="0"/>
              <a:t>Event Tree Supplemental</a:t>
            </a:r>
            <a:endParaRPr lang="en-US" sz="2400" i="1" dirty="0"/>
          </a:p>
        </p:txBody>
      </p:sp>
      <p:pic>
        <p:nvPicPr>
          <p:cNvPr id="2" name="Tufts_univ_seal_blue.jpg">
            <a:extLst>
              <a:ext uri="{FF2B5EF4-FFF2-40B4-BE49-F238E27FC236}">
                <a16:creationId xmlns:a16="http://schemas.microsoft.com/office/drawing/2014/main" id="{10D05EC8-7F85-0139-95EB-8D409F5CBAB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936" y="2133600"/>
            <a:ext cx="2774496" cy="16355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sz="quarter" idx="11"/>
          </p:nvPr>
        </p:nvSpPr>
        <p:spPr>
          <a:xfrm>
            <a:off x="453080" y="1143000"/>
            <a:ext cx="7886700" cy="5486400"/>
          </a:xfrm>
        </p:spPr>
        <p:txBody>
          <a:bodyPr/>
          <a:lstStyle/>
          <a:p>
            <a:r>
              <a:rPr lang="en-US" sz="1800" dirty="0"/>
              <a:t>Think of events in the casual chain as items that happen or don’t happen</a:t>
            </a:r>
          </a:p>
          <a:p>
            <a:r>
              <a:rPr lang="en-US" sz="1800" dirty="0"/>
              <a:t>Depending on the situation, the event happening could either be considered a success or failure </a:t>
            </a:r>
          </a:p>
          <a:p>
            <a:r>
              <a:rPr lang="en-US" sz="1800" dirty="0"/>
              <a:t>Consider how the data is provided. Is it the probability that the event happens or doesn’t happen?</a:t>
            </a:r>
          </a:p>
          <a:p>
            <a:endParaRPr lang="en-US" sz="16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Key points</a:t>
            </a:r>
          </a:p>
        </p:txBody>
      </p:sp>
      <p:pic>
        <p:nvPicPr>
          <p:cNvPr id="10" name="Audio 9">
            <a:extLst>
              <a:ext uri="{FF2B5EF4-FFF2-40B4-BE49-F238E27FC236}">
                <a16:creationId xmlns:a16="http://schemas.microsoft.com/office/drawing/2014/main" id="{E98CB174-55B5-CA77-751F-5E25EC1EBD8C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96510633"/>
      </p:ext>
    </p:extLst>
  </p:cSld>
  <p:clrMapOvr>
    <a:masterClrMapping/>
  </p:clrMapOvr>
  <p:transition spd="med" advTm="465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bg2"/>
                </a:solidFill>
              </a:rPr>
              <a:t>A Simple (and Ghoulish) Event Tree Example</a:t>
            </a:r>
          </a:p>
        </p:txBody>
      </p:sp>
      <p:sp>
        <p:nvSpPr>
          <p:cNvPr id="292867" name="Line 3"/>
          <p:cNvSpPr>
            <a:spLocks noChangeShapeType="1"/>
          </p:cNvSpPr>
          <p:nvPr/>
        </p:nvSpPr>
        <p:spPr bwMode="auto">
          <a:xfrm>
            <a:off x="1676400" y="3625850"/>
            <a:ext cx="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292868" name="Line 4"/>
          <p:cNvSpPr>
            <a:spLocks noChangeShapeType="1"/>
          </p:cNvSpPr>
          <p:nvPr/>
        </p:nvSpPr>
        <p:spPr bwMode="auto">
          <a:xfrm>
            <a:off x="1676400" y="41148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292869" name="Line 5"/>
          <p:cNvSpPr>
            <a:spLocks noChangeShapeType="1"/>
          </p:cNvSpPr>
          <p:nvPr/>
        </p:nvSpPr>
        <p:spPr bwMode="auto">
          <a:xfrm flipV="1">
            <a:off x="2590800" y="3810000"/>
            <a:ext cx="0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292870" name="Line 6"/>
          <p:cNvSpPr>
            <a:spLocks noChangeShapeType="1"/>
          </p:cNvSpPr>
          <p:nvPr/>
        </p:nvSpPr>
        <p:spPr bwMode="auto">
          <a:xfrm flipV="1">
            <a:off x="2590800" y="32766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292871" name="Line 7"/>
          <p:cNvSpPr>
            <a:spLocks noChangeShapeType="1"/>
          </p:cNvSpPr>
          <p:nvPr/>
        </p:nvSpPr>
        <p:spPr bwMode="auto">
          <a:xfrm>
            <a:off x="2590800" y="3276600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grpSp>
        <p:nvGrpSpPr>
          <p:cNvPr id="292872" name="Group 8"/>
          <p:cNvGrpSpPr>
            <a:grpSpLocks/>
          </p:cNvGrpSpPr>
          <p:nvPr/>
        </p:nvGrpSpPr>
        <p:grpSpPr bwMode="auto">
          <a:xfrm>
            <a:off x="3886200" y="2743200"/>
            <a:ext cx="1295400" cy="1066800"/>
            <a:chOff x="1344" y="1824"/>
            <a:chExt cx="816" cy="672"/>
          </a:xfrm>
        </p:grpSpPr>
        <p:sp>
          <p:nvSpPr>
            <p:cNvPr id="292873" name="Line 9"/>
            <p:cNvSpPr>
              <a:spLocks noChangeShapeType="1"/>
            </p:cNvSpPr>
            <p:nvPr/>
          </p:nvSpPr>
          <p:spPr bwMode="auto">
            <a:xfrm flipV="1">
              <a:off x="1344" y="1824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92874" name="Line 10"/>
            <p:cNvSpPr>
              <a:spLocks noChangeShapeType="1"/>
            </p:cNvSpPr>
            <p:nvPr/>
          </p:nvSpPr>
          <p:spPr bwMode="auto">
            <a:xfrm flipV="1">
              <a:off x="1344" y="216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92875" name="Line 11"/>
            <p:cNvSpPr>
              <a:spLocks noChangeShapeType="1"/>
            </p:cNvSpPr>
            <p:nvPr/>
          </p:nvSpPr>
          <p:spPr bwMode="auto">
            <a:xfrm>
              <a:off x="1344" y="182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92876" name="Line 12"/>
            <p:cNvSpPr>
              <a:spLocks noChangeShapeType="1"/>
            </p:cNvSpPr>
            <p:nvPr/>
          </p:nvSpPr>
          <p:spPr bwMode="auto">
            <a:xfrm>
              <a:off x="1344" y="2496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</p:grpSp>
      <p:grpSp>
        <p:nvGrpSpPr>
          <p:cNvPr id="292877" name="Group 13"/>
          <p:cNvGrpSpPr>
            <a:grpSpLocks/>
          </p:cNvGrpSpPr>
          <p:nvPr/>
        </p:nvGrpSpPr>
        <p:grpSpPr bwMode="auto">
          <a:xfrm>
            <a:off x="5181600" y="2286000"/>
            <a:ext cx="1295400" cy="1066800"/>
            <a:chOff x="1344" y="1824"/>
            <a:chExt cx="816" cy="672"/>
          </a:xfrm>
        </p:grpSpPr>
        <p:sp>
          <p:nvSpPr>
            <p:cNvPr id="292878" name="Line 14"/>
            <p:cNvSpPr>
              <a:spLocks noChangeShapeType="1"/>
            </p:cNvSpPr>
            <p:nvPr/>
          </p:nvSpPr>
          <p:spPr bwMode="auto">
            <a:xfrm flipV="1">
              <a:off x="1344" y="1824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92879" name="Line 15"/>
            <p:cNvSpPr>
              <a:spLocks noChangeShapeType="1"/>
            </p:cNvSpPr>
            <p:nvPr/>
          </p:nvSpPr>
          <p:spPr bwMode="auto">
            <a:xfrm flipV="1">
              <a:off x="1344" y="216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92880" name="Line 16"/>
            <p:cNvSpPr>
              <a:spLocks noChangeShapeType="1"/>
            </p:cNvSpPr>
            <p:nvPr/>
          </p:nvSpPr>
          <p:spPr bwMode="auto">
            <a:xfrm>
              <a:off x="1344" y="182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92881" name="Line 17"/>
            <p:cNvSpPr>
              <a:spLocks noChangeShapeType="1"/>
            </p:cNvSpPr>
            <p:nvPr/>
          </p:nvSpPr>
          <p:spPr bwMode="auto">
            <a:xfrm>
              <a:off x="1344" y="2496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</p:grpSp>
      <p:sp>
        <p:nvSpPr>
          <p:cNvPr id="292882" name="Line 18"/>
          <p:cNvSpPr>
            <a:spLocks noChangeShapeType="1"/>
          </p:cNvSpPr>
          <p:nvPr/>
        </p:nvSpPr>
        <p:spPr bwMode="auto">
          <a:xfrm>
            <a:off x="5105400" y="3810000"/>
            <a:ext cx="144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292883" name="Text Box 19"/>
          <p:cNvSpPr txBox="1">
            <a:spLocks noChangeArrowheads="1"/>
          </p:cNvSpPr>
          <p:nvPr/>
        </p:nvSpPr>
        <p:spPr bwMode="auto">
          <a:xfrm>
            <a:off x="1524000" y="3168650"/>
            <a:ext cx="3190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S</a:t>
            </a:r>
          </a:p>
        </p:txBody>
      </p:sp>
      <p:sp>
        <p:nvSpPr>
          <p:cNvPr id="292884" name="Text Box 20"/>
          <p:cNvSpPr txBox="1">
            <a:spLocks noChangeArrowheads="1"/>
          </p:cNvSpPr>
          <p:nvPr/>
        </p:nvSpPr>
        <p:spPr bwMode="auto">
          <a:xfrm>
            <a:off x="1524000" y="46926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>
                <a:solidFill>
                  <a:schemeClr val="bg2"/>
                </a:solidFill>
                <a:latin typeface="Arial" charset="0"/>
              </a:rPr>
              <a:t>F</a:t>
            </a:r>
          </a:p>
        </p:txBody>
      </p:sp>
      <p:sp>
        <p:nvSpPr>
          <p:cNvPr id="292885" name="Text Box 21"/>
          <p:cNvSpPr txBox="1">
            <a:spLocks noChangeArrowheads="1"/>
          </p:cNvSpPr>
          <p:nvPr/>
        </p:nvSpPr>
        <p:spPr bwMode="auto">
          <a:xfrm>
            <a:off x="2401887" y="1524000"/>
            <a:ext cx="11144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Perceive vampire</a:t>
            </a:r>
          </a:p>
        </p:txBody>
      </p:sp>
      <p:sp>
        <p:nvSpPr>
          <p:cNvPr id="292886" name="Text Box 22"/>
          <p:cNvSpPr txBox="1">
            <a:spLocks noChangeArrowheads="1"/>
          </p:cNvSpPr>
          <p:nvPr/>
        </p:nvSpPr>
        <p:spPr bwMode="auto">
          <a:xfrm>
            <a:off x="3696493" y="1524000"/>
            <a:ext cx="11144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Know to use garlic</a:t>
            </a:r>
          </a:p>
        </p:txBody>
      </p:sp>
      <p:sp>
        <p:nvSpPr>
          <p:cNvPr id="292887" name="Text Box 23"/>
          <p:cNvSpPr txBox="1">
            <a:spLocks noChangeArrowheads="1"/>
          </p:cNvSpPr>
          <p:nvPr/>
        </p:nvSpPr>
        <p:spPr bwMode="auto">
          <a:xfrm>
            <a:off x="5029200" y="1524000"/>
            <a:ext cx="168100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Shove garlic in vampire’s face </a:t>
            </a:r>
          </a:p>
        </p:txBody>
      </p:sp>
      <p:sp>
        <p:nvSpPr>
          <p:cNvPr id="292888" name="Text Box 24"/>
          <p:cNvSpPr txBox="1">
            <a:spLocks noChangeArrowheads="1"/>
          </p:cNvSpPr>
          <p:nvPr/>
        </p:nvSpPr>
        <p:spPr bwMode="auto">
          <a:xfrm>
            <a:off x="6705600" y="2133600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S1</a:t>
            </a:r>
          </a:p>
        </p:txBody>
      </p:sp>
      <p:sp>
        <p:nvSpPr>
          <p:cNvPr id="292889" name="Line 25"/>
          <p:cNvSpPr>
            <a:spLocks noChangeShapeType="1"/>
          </p:cNvSpPr>
          <p:nvPr/>
        </p:nvSpPr>
        <p:spPr bwMode="auto">
          <a:xfrm>
            <a:off x="2590800" y="4953000"/>
            <a:ext cx="403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292890" name="Text Box 26"/>
          <p:cNvSpPr txBox="1">
            <a:spLocks noChangeArrowheads="1"/>
          </p:cNvSpPr>
          <p:nvPr/>
        </p:nvSpPr>
        <p:spPr bwMode="auto">
          <a:xfrm>
            <a:off x="6709743" y="3124200"/>
            <a:ext cx="4235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F1</a:t>
            </a:r>
          </a:p>
        </p:txBody>
      </p:sp>
      <p:sp>
        <p:nvSpPr>
          <p:cNvPr id="292891" name="Text Box 27"/>
          <p:cNvSpPr txBox="1">
            <a:spLocks noChangeArrowheads="1"/>
          </p:cNvSpPr>
          <p:nvPr/>
        </p:nvSpPr>
        <p:spPr bwMode="auto">
          <a:xfrm>
            <a:off x="6704187" y="3657600"/>
            <a:ext cx="4235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F2</a:t>
            </a:r>
          </a:p>
        </p:txBody>
      </p:sp>
      <p:sp>
        <p:nvSpPr>
          <p:cNvPr id="292892" name="Text Box 28"/>
          <p:cNvSpPr txBox="1">
            <a:spLocks noChangeArrowheads="1"/>
          </p:cNvSpPr>
          <p:nvPr/>
        </p:nvSpPr>
        <p:spPr bwMode="auto">
          <a:xfrm>
            <a:off x="6704187" y="4800600"/>
            <a:ext cx="4235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F3</a:t>
            </a:r>
          </a:p>
        </p:txBody>
      </p:sp>
      <p:sp>
        <p:nvSpPr>
          <p:cNvPr id="292893" name="Text Box 29"/>
          <p:cNvSpPr txBox="1">
            <a:spLocks noChangeArrowheads="1"/>
          </p:cNvSpPr>
          <p:nvPr/>
        </p:nvSpPr>
        <p:spPr bwMode="auto">
          <a:xfrm>
            <a:off x="915859" y="5562600"/>
            <a:ext cx="38940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P(S)  = S1 = (0.95 x 0.80 x 0.10) = 0.076</a:t>
            </a:r>
          </a:p>
        </p:txBody>
      </p:sp>
      <p:sp>
        <p:nvSpPr>
          <p:cNvPr id="292894" name="Text Box 30"/>
          <p:cNvSpPr txBox="1">
            <a:spLocks noChangeArrowheads="1"/>
          </p:cNvSpPr>
          <p:nvPr/>
        </p:nvSpPr>
        <p:spPr bwMode="auto">
          <a:xfrm>
            <a:off x="922043" y="6027748"/>
            <a:ext cx="48606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P(F)  = F1 + F2 + F3 = 1 – P(S) = 1 – 0.076 = 0.924</a:t>
            </a:r>
          </a:p>
        </p:txBody>
      </p:sp>
      <p:sp>
        <p:nvSpPr>
          <p:cNvPr id="292895" name="Text Box 31"/>
          <p:cNvSpPr txBox="1">
            <a:spLocks noChangeArrowheads="1"/>
          </p:cNvSpPr>
          <p:nvPr/>
        </p:nvSpPr>
        <p:spPr bwMode="auto">
          <a:xfrm>
            <a:off x="2590800" y="4614446"/>
            <a:ext cx="5838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0.05</a:t>
            </a:r>
          </a:p>
        </p:txBody>
      </p:sp>
      <p:sp>
        <p:nvSpPr>
          <p:cNvPr id="292896" name="Text Box 32"/>
          <p:cNvSpPr txBox="1">
            <a:spLocks noChangeArrowheads="1"/>
          </p:cNvSpPr>
          <p:nvPr/>
        </p:nvSpPr>
        <p:spPr bwMode="auto">
          <a:xfrm>
            <a:off x="2590800" y="3276600"/>
            <a:ext cx="5838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0.95</a:t>
            </a:r>
          </a:p>
        </p:txBody>
      </p:sp>
      <p:sp>
        <p:nvSpPr>
          <p:cNvPr id="292897" name="Text Box 33"/>
          <p:cNvSpPr txBox="1">
            <a:spLocks noChangeArrowheads="1"/>
          </p:cNvSpPr>
          <p:nvPr/>
        </p:nvSpPr>
        <p:spPr bwMode="auto">
          <a:xfrm>
            <a:off x="609600" y="3733800"/>
            <a:ext cx="106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Vampire </a:t>
            </a:r>
          </a:p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attack</a:t>
            </a:r>
          </a:p>
        </p:txBody>
      </p:sp>
      <p:sp>
        <p:nvSpPr>
          <p:cNvPr id="292898" name="Text Box 34"/>
          <p:cNvSpPr txBox="1">
            <a:spLocks noChangeArrowheads="1"/>
          </p:cNvSpPr>
          <p:nvPr/>
        </p:nvSpPr>
        <p:spPr bwMode="auto">
          <a:xfrm>
            <a:off x="3891949" y="3471446"/>
            <a:ext cx="5838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0.20</a:t>
            </a:r>
          </a:p>
        </p:txBody>
      </p:sp>
      <p:sp>
        <p:nvSpPr>
          <p:cNvPr id="292899" name="Text Box 35"/>
          <p:cNvSpPr txBox="1">
            <a:spLocks noChangeArrowheads="1"/>
          </p:cNvSpPr>
          <p:nvPr/>
        </p:nvSpPr>
        <p:spPr bwMode="auto">
          <a:xfrm>
            <a:off x="5187349" y="3014246"/>
            <a:ext cx="5838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0.90</a:t>
            </a:r>
          </a:p>
        </p:txBody>
      </p:sp>
      <p:sp>
        <p:nvSpPr>
          <p:cNvPr id="292900" name="Text Box 36"/>
          <p:cNvSpPr txBox="1">
            <a:spLocks noChangeArrowheads="1"/>
          </p:cNvSpPr>
          <p:nvPr/>
        </p:nvSpPr>
        <p:spPr bwMode="auto">
          <a:xfrm>
            <a:off x="3884011" y="2743200"/>
            <a:ext cx="5838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0.80</a:t>
            </a:r>
          </a:p>
        </p:txBody>
      </p:sp>
      <p:sp>
        <p:nvSpPr>
          <p:cNvPr id="292901" name="Text Box 37"/>
          <p:cNvSpPr txBox="1">
            <a:spLocks noChangeArrowheads="1"/>
          </p:cNvSpPr>
          <p:nvPr/>
        </p:nvSpPr>
        <p:spPr bwMode="auto">
          <a:xfrm>
            <a:off x="5179412" y="2286000"/>
            <a:ext cx="58381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0.10</a:t>
            </a:r>
          </a:p>
        </p:txBody>
      </p:sp>
    </p:spTree>
    <p:extLst>
      <p:ext uri="{BB962C8B-B14F-4D97-AF65-F5344CB8AC3E}">
        <p14:creationId xmlns:p14="http://schemas.microsoft.com/office/powerpoint/2010/main" val="273219423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0F761E-008C-C995-EBE2-00FF77BD46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DA49B-C2FC-B960-36FA-295F88E9D8A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117475" indent="0">
              <a:buNone/>
            </a:pPr>
            <a:r>
              <a:rPr lang="en-US" dirty="0"/>
              <a:t>Probability of fault (in this case the “event”)</a:t>
            </a:r>
          </a:p>
          <a:p>
            <a:pPr marL="117475" indent="0">
              <a:buNone/>
            </a:pPr>
            <a:endParaRPr lang="en-US" dirty="0"/>
          </a:p>
          <a:p>
            <a:pPr marL="117475" indent="0">
              <a:buNone/>
            </a:pPr>
            <a:r>
              <a:rPr lang="en-US" i="1" dirty="0"/>
              <a:t>Example data:</a:t>
            </a:r>
          </a:p>
          <a:p>
            <a:pPr marL="117475" indent="0">
              <a:buNone/>
            </a:pPr>
            <a:r>
              <a:rPr lang="en-US" dirty="0"/>
              <a:t>System Error:    	P(F) = 0.5</a:t>
            </a:r>
          </a:p>
          <a:p>
            <a:pPr marL="117475" indent="0">
              <a:buNone/>
            </a:pPr>
            <a:r>
              <a:rPr lang="en-US" dirty="0"/>
              <a:t>Human Error 1: 	P(F) = 0.3</a:t>
            </a:r>
          </a:p>
          <a:p>
            <a:pPr marL="117475" indent="0">
              <a:buNone/>
            </a:pPr>
            <a:r>
              <a:rPr lang="en-US" dirty="0"/>
              <a:t>Human Error 2: 	P(F) = 0.2</a:t>
            </a:r>
          </a:p>
          <a:p>
            <a:pPr marL="117475" indent="0">
              <a:buNone/>
            </a:pPr>
            <a:endParaRPr lang="en-US" dirty="0"/>
          </a:p>
          <a:p>
            <a:pPr marL="117475" indent="0">
              <a:buNone/>
            </a:pPr>
            <a:endParaRPr lang="en-US" dirty="0"/>
          </a:p>
          <a:p>
            <a:pPr marL="117475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569757-50D0-DB97-265A-F08EBBA34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FAULT Tree</a:t>
            </a:r>
          </a:p>
        </p:txBody>
      </p:sp>
    </p:spTree>
    <p:extLst>
      <p:ext uri="{BB962C8B-B14F-4D97-AF65-F5344CB8AC3E}">
        <p14:creationId xmlns:p14="http://schemas.microsoft.com/office/powerpoint/2010/main" val="411531214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22778-3D02-94F1-265C-05FE8BA9D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>
            <a:extLst>
              <a:ext uri="{FF2B5EF4-FFF2-40B4-BE49-F238E27FC236}">
                <a16:creationId xmlns:a16="http://schemas.microsoft.com/office/drawing/2014/main" id="{E316BA71-9D27-24E3-0CAB-232AB67F34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bg2"/>
                </a:solidFill>
              </a:rPr>
              <a:t>A FAULT Tree Example</a:t>
            </a:r>
          </a:p>
        </p:txBody>
      </p:sp>
      <p:sp>
        <p:nvSpPr>
          <p:cNvPr id="292867" name="Line 3">
            <a:extLst>
              <a:ext uri="{FF2B5EF4-FFF2-40B4-BE49-F238E27FC236}">
                <a16:creationId xmlns:a16="http://schemas.microsoft.com/office/drawing/2014/main" id="{9C4A9597-A86E-1E05-0EA7-F3D358A0EF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3625850"/>
            <a:ext cx="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292868" name="Line 4">
            <a:extLst>
              <a:ext uri="{FF2B5EF4-FFF2-40B4-BE49-F238E27FC236}">
                <a16:creationId xmlns:a16="http://schemas.microsoft.com/office/drawing/2014/main" id="{3B68DD54-735A-C37D-86F7-4679984822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1148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292869" name="Line 5">
            <a:extLst>
              <a:ext uri="{FF2B5EF4-FFF2-40B4-BE49-F238E27FC236}">
                <a16:creationId xmlns:a16="http://schemas.microsoft.com/office/drawing/2014/main" id="{C52B2048-8497-5F0F-9A29-4C9439D7C0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3810000"/>
            <a:ext cx="0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292870" name="Line 6">
            <a:extLst>
              <a:ext uri="{FF2B5EF4-FFF2-40B4-BE49-F238E27FC236}">
                <a16:creationId xmlns:a16="http://schemas.microsoft.com/office/drawing/2014/main" id="{645A49BE-06F6-A9F5-1686-083B0B3E24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32766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292871" name="Line 7">
            <a:extLst>
              <a:ext uri="{FF2B5EF4-FFF2-40B4-BE49-F238E27FC236}">
                <a16:creationId xmlns:a16="http://schemas.microsoft.com/office/drawing/2014/main" id="{D688DDFD-3F75-B889-5AC5-9E60E5E44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276600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grpSp>
        <p:nvGrpSpPr>
          <p:cNvPr id="292872" name="Group 8">
            <a:extLst>
              <a:ext uri="{FF2B5EF4-FFF2-40B4-BE49-F238E27FC236}">
                <a16:creationId xmlns:a16="http://schemas.microsoft.com/office/drawing/2014/main" id="{767D6116-7FEF-7652-7F8A-B6895F44DBDC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2743200"/>
            <a:ext cx="1295400" cy="1066800"/>
            <a:chOff x="1344" y="1824"/>
            <a:chExt cx="816" cy="672"/>
          </a:xfrm>
        </p:grpSpPr>
        <p:sp>
          <p:nvSpPr>
            <p:cNvPr id="292873" name="Line 9">
              <a:extLst>
                <a:ext uri="{FF2B5EF4-FFF2-40B4-BE49-F238E27FC236}">
                  <a16:creationId xmlns:a16="http://schemas.microsoft.com/office/drawing/2014/main" id="{3B9808BC-C96B-A7E1-23A2-5ADF4E92C1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1824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92874" name="Line 10">
              <a:extLst>
                <a:ext uri="{FF2B5EF4-FFF2-40B4-BE49-F238E27FC236}">
                  <a16:creationId xmlns:a16="http://schemas.microsoft.com/office/drawing/2014/main" id="{A57AB091-7899-92DD-64B0-C4F699B10E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216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92875" name="Line 11">
              <a:extLst>
                <a:ext uri="{FF2B5EF4-FFF2-40B4-BE49-F238E27FC236}">
                  <a16:creationId xmlns:a16="http://schemas.microsoft.com/office/drawing/2014/main" id="{19615468-82D6-752A-6FBC-A88931097A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82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92876" name="Line 12">
              <a:extLst>
                <a:ext uri="{FF2B5EF4-FFF2-40B4-BE49-F238E27FC236}">
                  <a16:creationId xmlns:a16="http://schemas.microsoft.com/office/drawing/2014/main" id="{04B0690A-3F0D-97CD-9315-0006DEE6F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496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</p:grpSp>
      <p:grpSp>
        <p:nvGrpSpPr>
          <p:cNvPr id="292877" name="Group 13">
            <a:extLst>
              <a:ext uri="{FF2B5EF4-FFF2-40B4-BE49-F238E27FC236}">
                <a16:creationId xmlns:a16="http://schemas.microsoft.com/office/drawing/2014/main" id="{9EDCAD50-5F7C-B146-AF7B-0EF90A2308E5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2286000"/>
            <a:ext cx="1295400" cy="1066800"/>
            <a:chOff x="1344" y="1824"/>
            <a:chExt cx="816" cy="672"/>
          </a:xfrm>
        </p:grpSpPr>
        <p:sp>
          <p:nvSpPr>
            <p:cNvPr id="292878" name="Line 14">
              <a:extLst>
                <a:ext uri="{FF2B5EF4-FFF2-40B4-BE49-F238E27FC236}">
                  <a16:creationId xmlns:a16="http://schemas.microsoft.com/office/drawing/2014/main" id="{4F2E4B0F-854C-E2A2-379D-9F93CF321C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1824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92879" name="Line 15">
              <a:extLst>
                <a:ext uri="{FF2B5EF4-FFF2-40B4-BE49-F238E27FC236}">
                  <a16:creationId xmlns:a16="http://schemas.microsoft.com/office/drawing/2014/main" id="{E884C984-E630-0E78-806C-BF078702E4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216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92880" name="Line 16">
              <a:extLst>
                <a:ext uri="{FF2B5EF4-FFF2-40B4-BE49-F238E27FC236}">
                  <a16:creationId xmlns:a16="http://schemas.microsoft.com/office/drawing/2014/main" id="{C62EEBE7-29A8-5A48-5A9D-7F8F887A89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82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92881" name="Line 17">
              <a:extLst>
                <a:ext uri="{FF2B5EF4-FFF2-40B4-BE49-F238E27FC236}">
                  <a16:creationId xmlns:a16="http://schemas.microsoft.com/office/drawing/2014/main" id="{539472D6-9CEA-301E-FEC4-90C5ADC40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496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</p:grpSp>
      <p:sp>
        <p:nvSpPr>
          <p:cNvPr id="292882" name="Line 18">
            <a:extLst>
              <a:ext uri="{FF2B5EF4-FFF2-40B4-BE49-F238E27FC236}">
                <a16:creationId xmlns:a16="http://schemas.microsoft.com/office/drawing/2014/main" id="{C8F05851-C762-8819-4FDB-6F6D30B9B0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810000"/>
            <a:ext cx="144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292883" name="Text Box 19">
            <a:extLst>
              <a:ext uri="{FF2B5EF4-FFF2-40B4-BE49-F238E27FC236}">
                <a16:creationId xmlns:a16="http://schemas.microsoft.com/office/drawing/2014/main" id="{4A4C8F38-7510-091C-6A6D-C33243F12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717" y="3168650"/>
            <a:ext cx="114165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Failure (F)</a:t>
            </a:r>
          </a:p>
        </p:txBody>
      </p:sp>
      <p:sp>
        <p:nvSpPr>
          <p:cNvPr id="292884" name="Text Box 20">
            <a:extLst>
              <a:ext uri="{FF2B5EF4-FFF2-40B4-BE49-F238E27FC236}">
                <a16:creationId xmlns:a16="http://schemas.microsoft.com/office/drawing/2014/main" id="{58E891A5-0C84-B726-05C3-3A8FD0D7E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681" y="4692650"/>
            <a:ext cx="16546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Not Failure (NF)</a:t>
            </a:r>
          </a:p>
        </p:txBody>
      </p:sp>
      <p:sp>
        <p:nvSpPr>
          <p:cNvPr id="292885" name="Text Box 21">
            <a:extLst>
              <a:ext uri="{FF2B5EF4-FFF2-40B4-BE49-F238E27FC236}">
                <a16:creationId xmlns:a16="http://schemas.microsoft.com/office/drawing/2014/main" id="{8419B76C-CA6D-1ABD-7E30-8E1251AE3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1887" y="1524000"/>
            <a:ext cx="11144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System Error</a:t>
            </a:r>
          </a:p>
        </p:txBody>
      </p:sp>
      <p:sp>
        <p:nvSpPr>
          <p:cNvPr id="292886" name="Text Box 22">
            <a:extLst>
              <a:ext uri="{FF2B5EF4-FFF2-40B4-BE49-F238E27FC236}">
                <a16:creationId xmlns:a16="http://schemas.microsoft.com/office/drawing/2014/main" id="{53B26C45-04E5-AE76-0DDE-D16BFA0C6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6493" y="1524000"/>
            <a:ext cx="11144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Human  Error 1</a:t>
            </a:r>
          </a:p>
        </p:txBody>
      </p:sp>
      <p:sp>
        <p:nvSpPr>
          <p:cNvPr id="292887" name="Text Box 23">
            <a:extLst>
              <a:ext uri="{FF2B5EF4-FFF2-40B4-BE49-F238E27FC236}">
                <a16:creationId xmlns:a16="http://schemas.microsoft.com/office/drawing/2014/main" id="{5612BBF6-1272-D276-DA2F-B54310E8F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524000"/>
            <a:ext cx="16810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Human Error 2</a:t>
            </a:r>
          </a:p>
        </p:txBody>
      </p:sp>
      <p:sp>
        <p:nvSpPr>
          <p:cNvPr id="292888" name="Text Box 24">
            <a:extLst>
              <a:ext uri="{FF2B5EF4-FFF2-40B4-BE49-F238E27FC236}">
                <a16:creationId xmlns:a16="http://schemas.microsoft.com/office/drawing/2014/main" id="{DA4FDFCF-DAA4-2A05-9C87-6353E63FC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7356" y="2128454"/>
            <a:ext cx="9444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F = 0.03</a:t>
            </a:r>
          </a:p>
        </p:txBody>
      </p:sp>
      <p:sp>
        <p:nvSpPr>
          <p:cNvPr id="292889" name="Line 25">
            <a:extLst>
              <a:ext uri="{FF2B5EF4-FFF2-40B4-BE49-F238E27FC236}">
                <a16:creationId xmlns:a16="http://schemas.microsoft.com/office/drawing/2014/main" id="{4F3815B5-FE12-3D6D-94DE-6AA8630A71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953000"/>
            <a:ext cx="403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292890" name="Text Box 26">
            <a:extLst>
              <a:ext uri="{FF2B5EF4-FFF2-40B4-BE49-F238E27FC236}">
                <a16:creationId xmlns:a16="http://schemas.microsoft.com/office/drawing/2014/main" id="{D9C911C1-FBC7-82AD-2863-3AA9B403B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9707" y="3138892"/>
            <a:ext cx="10919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NF = 0.12</a:t>
            </a:r>
          </a:p>
        </p:txBody>
      </p:sp>
      <p:sp>
        <p:nvSpPr>
          <p:cNvPr id="292891" name="Text Box 27">
            <a:extLst>
              <a:ext uri="{FF2B5EF4-FFF2-40B4-BE49-F238E27FC236}">
                <a16:creationId xmlns:a16="http://schemas.microsoft.com/office/drawing/2014/main" id="{C4E7825B-7F05-4883-22D0-BFD42ECAD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0203" y="3640723"/>
            <a:ext cx="10919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NF = 0.35</a:t>
            </a:r>
          </a:p>
        </p:txBody>
      </p:sp>
      <p:sp>
        <p:nvSpPr>
          <p:cNvPr id="292892" name="Text Box 28">
            <a:extLst>
              <a:ext uri="{FF2B5EF4-FFF2-40B4-BE49-F238E27FC236}">
                <a16:creationId xmlns:a16="http://schemas.microsoft.com/office/drawing/2014/main" id="{9C65A777-91E3-7BC7-D704-4AB859BC2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0203" y="4777397"/>
            <a:ext cx="97815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NF = 0.5</a:t>
            </a:r>
          </a:p>
        </p:txBody>
      </p:sp>
      <p:sp>
        <p:nvSpPr>
          <p:cNvPr id="292893" name="Text Box 29">
            <a:extLst>
              <a:ext uri="{FF2B5EF4-FFF2-40B4-BE49-F238E27FC236}">
                <a16:creationId xmlns:a16="http://schemas.microsoft.com/office/drawing/2014/main" id="{93D4DC9A-F5BD-EAE2-1D81-F3A5C6752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6446" y="5570548"/>
            <a:ext cx="288412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P(F) = (0.5 x 0.3 x 0.2) = 0.03</a:t>
            </a:r>
          </a:p>
        </p:txBody>
      </p:sp>
      <p:sp>
        <p:nvSpPr>
          <p:cNvPr id="292894" name="Text Box 30">
            <a:extLst>
              <a:ext uri="{FF2B5EF4-FFF2-40B4-BE49-F238E27FC236}">
                <a16:creationId xmlns:a16="http://schemas.microsoft.com/office/drawing/2014/main" id="{7E15B098-5159-C0F2-9C51-CBDE648AD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9975" y="5985302"/>
            <a:ext cx="61077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P(NF)  = 0.12 + 0.35 + 0.5 = 0.97  OR  1 – P(F) = 1 – 0.03 = 0.97</a:t>
            </a:r>
          </a:p>
        </p:txBody>
      </p:sp>
      <p:sp>
        <p:nvSpPr>
          <p:cNvPr id="292895" name="Text Box 31">
            <a:extLst>
              <a:ext uri="{FF2B5EF4-FFF2-40B4-BE49-F238E27FC236}">
                <a16:creationId xmlns:a16="http://schemas.microsoft.com/office/drawing/2014/main" id="{0D3D8F12-FDFC-5B8A-111E-2C537409B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7707" y="4614446"/>
            <a:ext cx="470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0.5</a:t>
            </a:r>
          </a:p>
        </p:txBody>
      </p:sp>
      <p:sp>
        <p:nvSpPr>
          <p:cNvPr id="292896" name="Text Box 32">
            <a:extLst>
              <a:ext uri="{FF2B5EF4-FFF2-40B4-BE49-F238E27FC236}">
                <a16:creationId xmlns:a16="http://schemas.microsoft.com/office/drawing/2014/main" id="{4DB5AD6B-3F0F-E65B-51DD-899337B2C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7707" y="3276600"/>
            <a:ext cx="470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0.5</a:t>
            </a:r>
          </a:p>
        </p:txBody>
      </p:sp>
      <p:sp>
        <p:nvSpPr>
          <p:cNvPr id="292897" name="Text Box 33">
            <a:extLst>
              <a:ext uri="{FF2B5EF4-FFF2-40B4-BE49-F238E27FC236}">
                <a16:creationId xmlns:a16="http://schemas.microsoft.com/office/drawing/2014/main" id="{375024B0-CEF3-C6BE-1FDB-426D2215C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733800"/>
            <a:ext cx="106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System Failure</a:t>
            </a:r>
          </a:p>
        </p:txBody>
      </p:sp>
      <p:sp>
        <p:nvSpPr>
          <p:cNvPr id="292898" name="Text Box 34">
            <a:extLst>
              <a:ext uri="{FF2B5EF4-FFF2-40B4-BE49-F238E27FC236}">
                <a16:creationId xmlns:a16="http://schemas.microsoft.com/office/drawing/2014/main" id="{A90DDC49-E141-2DDB-B4C8-B491C7024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856" y="3471446"/>
            <a:ext cx="470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0.7</a:t>
            </a:r>
          </a:p>
        </p:txBody>
      </p:sp>
      <p:sp>
        <p:nvSpPr>
          <p:cNvPr id="292899" name="Text Box 35">
            <a:extLst>
              <a:ext uri="{FF2B5EF4-FFF2-40B4-BE49-F238E27FC236}">
                <a16:creationId xmlns:a16="http://schemas.microsoft.com/office/drawing/2014/main" id="{1E61BF0B-66C2-EF48-B0F3-39A701B14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4256" y="3014246"/>
            <a:ext cx="470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0.8</a:t>
            </a:r>
          </a:p>
        </p:txBody>
      </p:sp>
      <p:sp>
        <p:nvSpPr>
          <p:cNvPr id="292900" name="Text Box 36">
            <a:extLst>
              <a:ext uri="{FF2B5EF4-FFF2-40B4-BE49-F238E27FC236}">
                <a16:creationId xmlns:a16="http://schemas.microsoft.com/office/drawing/2014/main" id="{49B366B5-A05E-4195-7B2B-BE989A2D8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918" y="2743200"/>
            <a:ext cx="470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0.3</a:t>
            </a:r>
          </a:p>
        </p:txBody>
      </p:sp>
      <p:sp>
        <p:nvSpPr>
          <p:cNvPr id="292901" name="Text Box 37">
            <a:extLst>
              <a:ext uri="{FF2B5EF4-FFF2-40B4-BE49-F238E27FC236}">
                <a16:creationId xmlns:a16="http://schemas.microsoft.com/office/drawing/2014/main" id="{FCA70717-2223-F32A-3EC5-B9D9C6045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6318" y="2286000"/>
            <a:ext cx="470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0.2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51884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88" grpId="0"/>
      <p:bldP spid="292890" grpId="0"/>
      <p:bldP spid="292891" grpId="0"/>
      <p:bldP spid="292892" grpId="0"/>
      <p:bldP spid="292893" grpId="0"/>
      <p:bldP spid="292894" grpId="0"/>
      <p:bldP spid="292895" grpId="0"/>
      <p:bldP spid="292896" grpId="0"/>
      <p:bldP spid="292898" grpId="0"/>
      <p:bldP spid="292899" grpId="0"/>
      <p:bldP spid="292900" grpId="0"/>
      <p:bldP spid="29290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EB6DE-5F13-9BA2-90B9-36EEE443C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14C00-03D7-4140-3807-D9234DE00BF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3080" y="1143000"/>
            <a:ext cx="7886700" cy="5486400"/>
          </a:xfrm>
        </p:spPr>
        <p:txBody>
          <a:bodyPr/>
          <a:lstStyle/>
          <a:p>
            <a:r>
              <a:rPr lang="en-US" sz="2400" dirty="0"/>
              <a:t>If they are independent (i.e., one or the other can occur) and both lead to the same end result (same top-level event) </a:t>
            </a:r>
          </a:p>
          <a:p>
            <a:pPr lvl="1"/>
            <a:r>
              <a:rPr lang="en-US" sz="1800" dirty="0"/>
              <a:t>Can calculate the the P(F) of each chain</a:t>
            </a:r>
          </a:p>
          <a:p>
            <a:pPr lvl="1"/>
            <a:r>
              <a:rPr lang="en-US" sz="1800" dirty="0"/>
              <a:t>Total probability of top-level event occurring is the Union of the P(F) of each chain: P(F</a:t>
            </a:r>
            <a:r>
              <a:rPr lang="en-US" sz="1800" baseline="-25000" dirty="0"/>
              <a:t>A</a:t>
            </a:r>
            <a:r>
              <a:rPr lang="en-US" sz="1800" dirty="0"/>
              <a:t>) + P(F</a:t>
            </a:r>
            <a:r>
              <a:rPr lang="en-US" sz="1800" baseline="-25000" dirty="0"/>
              <a:t>B</a:t>
            </a:r>
            <a:r>
              <a:rPr lang="en-US" sz="1800" dirty="0"/>
              <a:t>) – P(F</a:t>
            </a:r>
            <a:r>
              <a:rPr lang="en-US" sz="1800" baseline="-25000" dirty="0"/>
              <a:t>A</a:t>
            </a:r>
            <a:r>
              <a:rPr lang="en-US" sz="1800" dirty="0"/>
              <a:t>) P(F</a:t>
            </a:r>
            <a:r>
              <a:rPr lang="en-US" sz="1800" baseline="-25000" dirty="0"/>
              <a:t>B</a:t>
            </a:r>
            <a:r>
              <a:rPr lang="en-US" sz="1800" dirty="0"/>
              <a:t>) </a:t>
            </a:r>
          </a:p>
          <a:p>
            <a:pPr lvl="2"/>
            <a:r>
              <a:rPr lang="en-US" sz="1800" dirty="0"/>
              <a:t>If chain A and B are mutually exclusive, then P(F</a:t>
            </a:r>
            <a:r>
              <a:rPr lang="en-US" sz="1800" baseline="-25000" dirty="0"/>
              <a:t>A</a:t>
            </a:r>
            <a:r>
              <a:rPr lang="en-US" sz="1800" dirty="0"/>
              <a:t>) P(F</a:t>
            </a:r>
            <a:r>
              <a:rPr lang="en-US" sz="1800" baseline="-25000" dirty="0"/>
              <a:t>B</a:t>
            </a:r>
            <a:r>
              <a:rPr lang="en-US" sz="1800" dirty="0"/>
              <a:t>) = 0</a:t>
            </a:r>
          </a:p>
          <a:p>
            <a:pPr lvl="2"/>
            <a:endParaRPr lang="en-US" sz="1800" dirty="0"/>
          </a:p>
          <a:p>
            <a:pPr lvl="1"/>
            <a:endParaRPr lang="en-US" sz="1400" dirty="0"/>
          </a:p>
          <a:p>
            <a:endParaRPr lang="en-US" sz="16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2F593-81BE-8493-259E-A9C0CFE94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If there are multiple casual chains</a:t>
            </a:r>
          </a:p>
        </p:txBody>
      </p:sp>
    </p:spTree>
    <p:extLst>
      <p:ext uri="{BB962C8B-B14F-4D97-AF65-F5344CB8AC3E}">
        <p14:creationId xmlns:p14="http://schemas.microsoft.com/office/powerpoint/2010/main" val="110830589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695D5-55A3-F151-9E42-6950372B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>
            <a:extLst>
              <a:ext uri="{FF2B5EF4-FFF2-40B4-BE49-F238E27FC236}">
                <a16:creationId xmlns:a16="http://schemas.microsoft.com/office/drawing/2014/main" id="{E9B41230-C7F2-1629-28C2-3E1AC024AE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3080" y="380999"/>
            <a:ext cx="7886700" cy="9057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/>
                </a:solidFill>
              </a:rPr>
              <a:t>Multiple casual chains that can lead to failure</a:t>
            </a:r>
          </a:p>
        </p:txBody>
      </p:sp>
      <p:sp>
        <p:nvSpPr>
          <p:cNvPr id="292871" name="Line 7">
            <a:extLst>
              <a:ext uri="{FF2B5EF4-FFF2-40B4-BE49-F238E27FC236}">
                <a16:creationId xmlns:a16="http://schemas.microsoft.com/office/drawing/2014/main" id="{D27629F0-968D-F265-59F7-7E46E5C9FD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34290" y="2789125"/>
            <a:ext cx="1251910" cy="92992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grpSp>
        <p:nvGrpSpPr>
          <p:cNvPr id="292872" name="Group 8">
            <a:extLst>
              <a:ext uri="{FF2B5EF4-FFF2-40B4-BE49-F238E27FC236}">
                <a16:creationId xmlns:a16="http://schemas.microsoft.com/office/drawing/2014/main" id="{6BE47F70-AE38-C648-324F-694B75E39253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2451524"/>
            <a:ext cx="1295400" cy="710503"/>
            <a:chOff x="1344" y="1824"/>
            <a:chExt cx="816" cy="672"/>
          </a:xfrm>
        </p:grpSpPr>
        <p:sp>
          <p:nvSpPr>
            <p:cNvPr id="292873" name="Line 9">
              <a:extLst>
                <a:ext uri="{FF2B5EF4-FFF2-40B4-BE49-F238E27FC236}">
                  <a16:creationId xmlns:a16="http://schemas.microsoft.com/office/drawing/2014/main" id="{3C1F587A-2F64-2625-30A8-E63BADDD98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1824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92874" name="Line 10">
              <a:extLst>
                <a:ext uri="{FF2B5EF4-FFF2-40B4-BE49-F238E27FC236}">
                  <a16:creationId xmlns:a16="http://schemas.microsoft.com/office/drawing/2014/main" id="{35AD9B03-25C8-E355-1E03-0F78117D48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216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292875" name="Line 11">
              <a:extLst>
                <a:ext uri="{FF2B5EF4-FFF2-40B4-BE49-F238E27FC236}">
                  <a16:creationId xmlns:a16="http://schemas.microsoft.com/office/drawing/2014/main" id="{50E9BB22-F5DC-7039-7F84-B089AB2379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82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92876" name="Line 12">
              <a:extLst>
                <a:ext uri="{FF2B5EF4-FFF2-40B4-BE49-F238E27FC236}">
                  <a16:creationId xmlns:a16="http://schemas.microsoft.com/office/drawing/2014/main" id="{A3F4FC57-0AE5-823A-440B-70C7A27A65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496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</p:grpSp>
      <p:grpSp>
        <p:nvGrpSpPr>
          <p:cNvPr id="292877" name="Group 13">
            <a:extLst>
              <a:ext uri="{FF2B5EF4-FFF2-40B4-BE49-F238E27FC236}">
                <a16:creationId xmlns:a16="http://schemas.microsoft.com/office/drawing/2014/main" id="{F2CAFDBD-BF57-B006-402F-13CE9754D8E3}"/>
              </a:ext>
            </a:extLst>
          </p:cNvPr>
          <p:cNvGrpSpPr>
            <a:grpSpLocks/>
          </p:cNvGrpSpPr>
          <p:nvPr/>
        </p:nvGrpSpPr>
        <p:grpSpPr bwMode="auto">
          <a:xfrm>
            <a:off x="5181598" y="2143186"/>
            <a:ext cx="1295397" cy="599807"/>
            <a:chOff x="1344" y="1824"/>
            <a:chExt cx="816" cy="672"/>
          </a:xfrm>
        </p:grpSpPr>
        <p:sp>
          <p:nvSpPr>
            <p:cNvPr id="292878" name="Line 14">
              <a:extLst>
                <a:ext uri="{FF2B5EF4-FFF2-40B4-BE49-F238E27FC236}">
                  <a16:creationId xmlns:a16="http://schemas.microsoft.com/office/drawing/2014/main" id="{D529A823-051C-11AD-BF93-23C394A3C0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1824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92879" name="Line 15">
              <a:extLst>
                <a:ext uri="{FF2B5EF4-FFF2-40B4-BE49-F238E27FC236}">
                  <a16:creationId xmlns:a16="http://schemas.microsoft.com/office/drawing/2014/main" id="{067DBEE2-1F5B-F7A5-B905-A1A71BC549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216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92880" name="Line 16">
              <a:extLst>
                <a:ext uri="{FF2B5EF4-FFF2-40B4-BE49-F238E27FC236}">
                  <a16:creationId xmlns:a16="http://schemas.microsoft.com/office/drawing/2014/main" id="{0E1CE87D-CF6C-229C-1FC9-F135B6A603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82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92881" name="Line 17">
              <a:extLst>
                <a:ext uri="{FF2B5EF4-FFF2-40B4-BE49-F238E27FC236}">
                  <a16:creationId xmlns:a16="http://schemas.microsoft.com/office/drawing/2014/main" id="{6979005E-4448-055A-2A2C-8B694D1965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496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</p:grpSp>
      <p:sp>
        <p:nvSpPr>
          <p:cNvPr id="292882" name="Line 18">
            <a:extLst>
              <a:ext uri="{FF2B5EF4-FFF2-40B4-BE49-F238E27FC236}">
                <a16:creationId xmlns:a16="http://schemas.microsoft.com/office/drawing/2014/main" id="{FBD52E3F-1E9F-7343-B178-809E0C2CE1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597" y="3162027"/>
            <a:ext cx="1295400" cy="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292888" name="Text Box 24">
            <a:extLst>
              <a:ext uri="{FF2B5EF4-FFF2-40B4-BE49-F238E27FC236}">
                <a16:creationId xmlns:a16="http://schemas.microsoft.com/office/drawing/2014/main" id="{FB59AB26-0FFA-CEFB-A8F9-746046D38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4217" y="1932959"/>
            <a:ext cx="135485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P(F</a:t>
            </a:r>
            <a:r>
              <a:rPr lang="en-GB" sz="1600" baseline="-25000" dirty="0">
                <a:solidFill>
                  <a:schemeClr val="bg2"/>
                </a:solidFill>
                <a:latin typeface="Arial" charset="0"/>
              </a:rPr>
              <a:t>A</a:t>
            </a:r>
            <a:r>
              <a:rPr lang="en-GB" sz="1600" dirty="0">
                <a:solidFill>
                  <a:schemeClr val="bg2"/>
                </a:solidFill>
                <a:latin typeface="Arial" charset="0"/>
              </a:rPr>
              <a:t>) = 0.06</a:t>
            </a:r>
          </a:p>
        </p:txBody>
      </p:sp>
      <p:sp>
        <p:nvSpPr>
          <p:cNvPr id="292894" name="Text Box 30">
            <a:extLst>
              <a:ext uri="{FF2B5EF4-FFF2-40B4-BE49-F238E27FC236}">
                <a16:creationId xmlns:a16="http://schemas.microsoft.com/office/drawing/2014/main" id="{E5D02FA4-401C-85E1-E256-CF3C25761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9053" y="5985302"/>
            <a:ext cx="538961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P(Bad Outcomes) = 0.06 + 0.03 – (0.06 x 0.03) = 0.0882 </a:t>
            </a:r>
          </a:p>
        </p:txBody>
      </p:sp>
      <p:sp>
        <p:nvSpPr>
          <p:cNvPr id="292897" name="Text Box 33">
            <a:extLst>
              <a:ext uri="{FF2B5EF4-FFF2-40B4-BE49-F238E27FC236}">
                <a16:creationId xmlns:a16="http://schemas.microsoft.com/office/drawing/2014/main" id="{A41307E4-980A-C28F-43D1-A18DB1865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399" y="3670455"/>
            <a:ext cx="106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Bad outcome</a:t>
            </a:r>
          </a:p>
        </p:txBody>
      </p:sp>
      <p:sp>
        <p:nvSpPr>
          <p:cNvPr id="292900" name="Text Box 36">
            <a:extLst>
              <a:ext uri="{FF2B5EF4-FFF2-40B4-BE49-F238E27FC236}">
                <a16:creationId xmlns:a16="http://schemas.microsoft.com/office/drawing/2014/main" id="{1C24AE77-1827-5DCD-7376-8A3DE2C61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042" y="2102236"/>
            <a:ext cx="470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0.3</a:t>
            </a:r>
          </a:p>
        </p:txBody>
      </p:sp>
      <p:sp>
        <p:nvSpPr>
          <p:cNvPr id="292901" name="Text Box 37">
            <a:extLst>
              <a:ext uri="{FF2B5EF4-FFF2-40B4-BE49-F238E27FC236}">
                <a16:creationId xmlns:a16="http://schemas.microsoft.com/office/drawing/2014/main" id="{A2611D38-4301-361B-66F5-4C4181170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0425" y="1781090"/>
            <a:ext cx="470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0.2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873D2975-0E9F-2B26-2A11-D028C30B3629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4814831"/>
            <a:ext cx="1295400" cy="559447"/>
            <a:chOff x="1344" y="1824"/>
            <a:chExt cx="816" cy="672"/>
          </a:xfrm>
        </p:grpSpPr>
        <p:sp>
          <p:nvSpPr>
            <p:cNvPr id="3" name="Line 9">
              <a:extLst>
                <a:ext uri="{FF2B5EF4-FFF2-40B4-BE49-F238E27FC236}">
                  <a16:creationId xmlns:a16="http://schemas.microsoft.com/office/drawing/2014/main" id="{869C05E2-DB56-A32C-4973-67336A272F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1824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4" name="Line 10">
              <a:extLst>
                <a:ext uri="{FF2B5EF4-FFF2-40B4-BE49-F238E27FC236}">
                  <a16:creationId xmlns:a16="http://schemas.microsoft.com/office/drawing/2014/main" id="{D59D7BEE-5D20-295E-FABF-D9B3762739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216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5" name="Line 11">
              <a:extLst>
                <a:ext uri="{FF2B5EF4-FFF2-40B4-BE49-F238E27FC236}">
                  <a16:creationId xmlns:a16="http://schemas.microsoft.com/office/drawing/2014/main" id="{A3374E5B-A7A7-F2EC-21DA-816934C4ED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82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6" name="Line 12">
              <a:extLst>
                <a:ext uri="{FF2B5EF4-FFF2-40B4-BE49-F238E27FC236}">
                  <a16:creationId xmlns:a16="http://schemas.microsoft.com/office/drawing/2014/main" id="{3F2A6C4E-14D3-6FCD-30F0-D575412A83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496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</p:grpSp>
      <p:sp>
        <p:nvSpPr>
          <p:cNvPr id="8" name="Line 6">
            <a:extLst>
              <a:ext uri="{FF2B5EF4-FFF2-40B4-BE49-F238E27FC236}">
                <a16:creationId xmlns:a16="http://schemas.microsoft.com/office/drawing/2014/main" id="{0BA0B128-0992-FC48-D851-6350B3F5E06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90800" y="4232144"/>
            <a:ext cx="1201660" cy="54863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10" name="Text Box 32">
            <a:extLst>
              <a:ext uri="{FF2B5EF4-FFF2-40B4-BE49-F238E27FC236}">
                <a16:creationId xmlns:a16="http://schemas.microsoft.com/office/drawing/2014/main" id="{6D14A2D9-D238-AB30-EE9B-5AE4A36447FC}"/>
              </a:ext>
            </a:extLst>
          </p:cNvPr>
          <p:cNvSpPr txBox="1">
            <a:spLocks noChangeArrowheads="1"/>
          </p:cNvSpPr>
          <p:nvPr/>
        </p:nvSpPr>
        <p:spPr bwMode="auto">
          <a:xfrm rot="19277173">
            <a:off x="2639920" y="2935468"/>
            <a:ext cx="9124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Chain A</a:t>
            </a:r>
          </a:p>
        </p:txBody>
      </p:sp>
      <p:sp>
        <p:nvSpPr>
          <p:cNvPr id="11" name="Text Box 32">
            <a:extLst>
              <a:ext uri="{FF2B5EF4-FFF2-40B4-BE49-F238E27FC236}">
                <a16:creationId xmlns:a16="http://schemas.microsoft.com/office/drawing/2014/main" id="{BEC6AC3E-CDA8-DCF5-A3A7-5985D20BEE3A}"/>
              </a:ext>
            </a:extLst>
          </p:cNvPr>
          <p:cNvSpPr txBox="1">
            <a:spLocks noChangeArrowheads="1"/>
          </p:cNvSpPr>
          <p:nvPr/>
        </p:nvSpPr>
        <p:spPr bwMode="auto">
          <a:xfrm rot="1402868">
            <a:off x="2873191" y="4221439"/>
            <a:ext cx="9124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Chain B</a:t>
            </a:r>
          </a:p>
        </p:txBody>
      </p:sp>
      <p:sp>
        <p:nvSpPr>
          <p:cNvPr id="12" name="Text Box 32">
            <a:extLst>
              <a:ext uri="{FF2B5EF4-FFF2-40B4-BE49-F238E27FC236}">
                <a16:creationId xmlns:a16="http://schemas.microsoft.com/office/drawing/2014/main" id="{ECDFBC48-9218-36F5-D5FF-B245F521A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2465" y="4773919"/>
            <a:ext cx="470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0.2</a:t>
            </a:r>
          </a:p>
        </p:txBody>
      </p:sp>
      <p:grpSp>
        <p:nvGrpSpPr>
          <p:cNvPr id="14" name="Group 8">
            <a:extLst>
              <a:ext uri="{FF2B5EF4-FFF2-40B4-BE49-F238E27FC236}">
                <a16:creationId xmlns:a16="http://schemas.microsoft.com/office/drawing/2014/main" id="{AE47A0F1-6C08-B4FA-BBE7-FD63FAA94C21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4501056"/>
            <a:ext cx="2590800" cy="559447"/>
            <a:chOff x="1344" y="1824"/>
            <a:chExt cx="1632" cy="672"/>
          </a:xfrm>
        </p:grpSpPr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EB1193FD-E27F-1DA5-43CA-332608B86A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1824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64FA3A86-132F-2B1B-E3CD-D402F2975F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216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17" name="Line 11">
              <a:extLst>
                <a:ext uri="{FF2B5EF4-FFF2-40B4-BE49-F238E27FC236}">
                  <a16:creationId xmlns:a16="http://schemas.microsoft.com/office/drawing/2014/main" id="{EC0667E5-1D50-E04F-B31C-398708CD48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824"/>
              <a:ext cx="1632" cy="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8" name="Line 12">
              <a:extLst>
                <a:ext uri="{FF2B5EF4-FFF2-40B4-BE49-F238E27FC236}">
                  <a16:creationId xmlns:a16="http://schemas.microsoft.com/office/drawing/2014/main" id="{7F7A2D6D-58B4-43B6-CD87-F4E7C8F21F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496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accent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</p:grpSp>
      <p:sp>
        <p:nvSpPr>
          <p:cNvPr id="19" name="Text Box 24">
            <a:extLst>
              <a:ext uri="{FF2B5EF4-FFF2-40B4-BE49-F238E27FC236}">
                <a16:creationId xmlns:a16="http://schemas.microsoft.com/office/drawing/2014/main" id="{EBB78069-C020-B0AC-FA47-0D08E3819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178897"/>
            <a:ext cx="135485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P(F</a:t>
            </a:r>
            <a:r>
              <a:rPr lang="en-GB" sz="1600" baseline="-25000" dirty="0">
                <a:solidFill>
                  <a:schemeClr val="bg2"/>
                </a:solidFill>
                <a:latin typeface="Arial" charset="0"/>
              </a:rPr>
              <a:t>B</a:t>
            </a:r>
            <a:r>
              <a:rPr lang="en-GB" sz="1600" dirty="0">
                <a:solidFill>
                  <a:schemeClr val="bg2"/>
                </a:solidFill>
                <a:latin typeface="Arial" charset="0"/>
              </a:rPr>
              <a:t>) = 0.03</a:t>
            </a:r>
          </a:p>
        </p:txBody>
      </p:sp>
      <p:sp>
        <p:nvSpPr>
          <p:cNvPr id="20" name="Text Box 36">
            <a:extLst>
              <a:ext uri="{FF2B5EF4-FFF2-40B4-BE49-F238E27FC236}">
                <a16:creationId xmlns:a16="http://schemas.microsoft.com/office/drawing/2014/main" id="{BFDD91BB-738C-9E96-9718-859FA0D65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4155" y="5071433"/>
            <a:ext cx="5838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accent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algn="l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algn="l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algn="l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algn="l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GB" sz="1600" dirty="0">
                <a:solidFill>
                  <a:schemeClr val="bg2"/>
                </a:solidFill>
                <a:latin typeface="Arial" charset="0"/>
              </a:rPr>
              <a:t>0.15</a:t>
            </a:r>
          </a:p>
        </p:txBody>
      </p:sp>
    </p:spTree>
    <p:extLst>
      <p:ext uri="{BB962C8B-B14F-4D97-AF65-F5344CB8AC3E}">
        <p14:creationId xmlns:p14="http://schemas.microsoft.com/office/powerpoint/2010/main" val="307403696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|32.1|12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9|0.5|0.5|0.2|36|22.4"/>
</p:tagLst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EA0B0"/>
      </a:accent1>
      <a:accent2>
        <a:srgbClr val="CCAF0A"/>
      </a:accent2>
      <a:accent3>
        <a:srgbClr val="8F8F8F"/>
      </a:accent3>
      <a:accent4>
        <a:srgbClr val="707070"/>
      </a:accent4>
      <a:accent5>
        <a:srgbClr val="BACBD2"/>
      </a:accent5>
      <a:accent6>
        <a:srgbClr val="B99F09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6EA0B0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6EA0B0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EA0B0"/>
      </a:accent1>
      <a:accent2>
        <a:srgbClr val="CCAF0A"/>
      </a:accent2>
      <a:accent3>
        <a:srgbClr val="8F8F8F"/>
      </a:accent3>
      <a:accent4>
        <a:srgbClr val="707070"/>
      </a:accent4>
      <a:accent5>
        <a:srgbClr val="BACBD2"/>
      </a:accent5>
      <a:accent6>
        <a:srgbClr val="B99F09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6EA0B0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6EA0B0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3251</TotalTime>
  <Words>411</Words>
  <Application>Microsoft Office PowerPoint</Application>
  <PresentationFormat>On-screen Show (4:3)</PresentationFormat>
  <Paragraphs>86</Paragraphs>
  <Slides>7</Slides>
  <Notes>7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Default</vt:lpstr>
      <vt:lpstr>PowerPoint Presentation</vt:lpstr>
      <vt:lpstr>Key points</vt:lpstr>
      <vt:lpstr>A Simple (and Ghoulish) Event Tree Example</vt:lpstr>
      <vt:lpstr>FAULT Tree</vt:lpstr>
      <vt:lpstr>A FAULT Tree Example</vt:lpstr>
      <vt:lpstr>If there are multiple casual chains</vt:lpstr>
      <vt:lpstr>Multiple casual chains that can lead to failure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Durrani, Sami</dc:creator>
  <cp:lastModifiedBy>Sami Durrani</cp:lastModifiedBy>
  <cp:revision>78</cp:revision>
  <cp:lastPrinted>2016-09-11T23:21:58Z</cp:lastPrinted>
  <dcterms:modified xsi:type="dcterms:W3CDTF">2024-02-15T03:11:43Z</dcterms:modified>
</cp:coreProperties>
</file>